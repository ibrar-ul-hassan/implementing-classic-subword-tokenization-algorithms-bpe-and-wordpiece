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BPE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1,000</c:v>
                  </c:pt>
                  <c:pt idx="1">
                    <c:v>5,000</c:v>
                  </c:pt>
                  <c:pt idx="2">
                    <c:v>10,000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15.8</c:v>
                </c:pt>
                <c:pt idx="1">
                  <c:v>10</c:v>
                </c:pt>
                <c:pt idx="2">
                  <c:v>9.2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WordPiece</c:v>
                </c:pt>
              </c:strCache>
            </c:strRef>
          </c:tx>
          <c:spPr>
            <a:solidFill>
              <a:srgbClr val="F9C7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1,000</c:v>
                  </c:pt>
                  <c:pt idx="1">
                    <c:v>5,000</c:v>
                  </c:pt>
                  <c:pt idx="2">
                    <c:v>10,000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45.8</c:v>
                </c:pt>
                <c:pt idx="1">
                  <c:v>30.4</c:v>
                </c:pt>
                <c:pt idx="2">
                  <c:v>19.6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Vocabulary Size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Avg Tokens / Sentence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280160"/>
            <a:ext cx="73152" cy="2560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Classic Subword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621792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Tokenization Algorithms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417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 and  WordPiece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7432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 — without using Hugging Face tokenizers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907792"/>
            <a:ext cx="8595360" cy="0"/>
          </a:xfrm>
          <a:prstGeom prst="line">
            <a:avLst/>
          </a:prstGeom>
          <a:noFill/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Ibrar   |   Dayo   |   Lama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" y="34015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Marie Candito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" y="39776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Semester 2  |  2025-2026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 in 20 minutes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2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34440"/>
            <a:ext cx="5029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258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12801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158191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word-level tokenization fails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984248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984248"/>
            <a:ext cx="5029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07568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20299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Algorithms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23317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and WordPiece — theory and intuition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2734056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734056"/>
            <a:ext cx="5029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82549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27797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Implementation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308152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→ Fast: 30x and 85x speedups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483864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483864"/>
            <a:ext cx="5029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57530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" y="35295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383133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Wikipedia, morphological gold standard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233672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233672"/>
            <a:ext cx="5029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3251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14400" y="42793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458114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algorithm wins, and when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How to represent text?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only understand numbers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3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0233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34440"/>
            <a:ext cx="402336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618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Character-level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719072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T=1, h=2, e=3...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Too granular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Must learn that t+h+e = article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Needs very deep models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Very long sequences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0233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34440"/>
            <a:ext cx="4023360" cy="4114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2618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Word-level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719072"/>
            <a:ext cx="37490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cat=50, cats=51...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OOV problem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'Donaudampfschiff-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fahrtsgesellschaft'?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Infinite vocabulary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15968" y="2834640"/>
            <a:ext cx="329184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5968" y="283464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Subword Tokenization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Goldilocks zone between characters and words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4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412480" cy="1280160"/>
          </a:xfrm>
          <a:prstGeom prst="rect">
            <a:avLst/>
          </a:prstGeom>
          <a:solidFill>
            <a:srgbClr val="EBF8F4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3258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"unbreakability"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749040" y="1572768"/>
            <a:ext cx="4572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32588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"un"  +  "break"  +  "ability" ]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unseen word can be represented using known subword pieces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514600"/>
            <a:ext cx="26517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514600"/>
            <a:ext cx="26517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Vocabulary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5760" y="3182112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word = combination of subwords.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OOV problem solved.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72968" y="2514600"/>
            <a:ext cx="26517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72968" y="2514600"/>
            <a:ext cx="26517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64408" y="26334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Morphological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64408" y="3182112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'playing' → 'play' + 'ing'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Morphemes emerge naturally.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71616" y="2514600"/>
            <a:ext cx="2651760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71616" y="2514600"/>
            <a:ext cx="26517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263347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63056" y="3182112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vocab of 10k-50k tokens.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tables stay tractable.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BPE: Byte Pair Encoding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Sennrich et al., ACL 2016 — used by GPT, RoBERTa, BART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5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Algorithm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664208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" y="1682496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6824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8368" y="170992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split every word into characters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286000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92608" y="2304288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23042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" y="2331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frequency of every adjacent pair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907792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2608" y="2926080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2926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" y="29535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the most frequent pair → new token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529584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92608" y="3547872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2608" y="35478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" y="3575304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the merge rule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151376"/>
            <a:ext cx="41148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92608" y="4169664"/>
            <a:ext cx="292608" cy="29260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41696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8368" y="4197096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target vocabulary size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0" y="12344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Example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63440" y="16642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80760" y="16642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"hug":10, "pug":5, "pun":12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2103120"/>
            <a:ext cx="4206240" cy="0"/>
          </a:xfrm>
          <a:prstGeom prst="line">
            <a:avLst/>
          </a:prstGeom>
          <a:noFill/>
          <a:ln w="6350">
            <a:solidFill>
              <a:srgbClr val="D0DC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21284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vocab: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80760" y="22128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h, u, g, p, n }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2651760"/>
            <a:ext cx="4206240" cy="0"/>
          </a:xfrm>
          <a:prstGeom prst="line">
            <a:avLst/>
          </a:prstGeom>
          <a:noFill/>
          <a:ln w="6350">
            <a:solidFill>
              <a:srgbClr val="D0DC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7614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pair: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080760" y="276148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("u","g") → freq 20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3200400"/>
            <a:ext cx="4206240" cy="0"/>
          </a:xfrm>
          <a:prstGeom prst="line">
            <a:avLst/>
          </a:prstGeom>
          <a:noFill/>
          <a:ln w="6350">
            <a:solidFill>
              <a:srgbClr val="D0DC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3101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merge: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80760" y="33101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("h","ug"):10, ("p","ug"):5...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3749040"/>
            <a:ext cx="4206240" cy="0"/>
          </a:xfrm>
          <a:prstGeom prst="line">
            <a:avLst/>
          </a:prstGeom>
          <a:noFill/>
          <a:ln w="6350">
            <a:solidFill>
              <a:srgbClr val="D0DC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63440" y="385876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vocab: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080760" y="38587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h, u, g, p, n, ug }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63440" y="4297680"/>
            <a:ext cx="4206240" cy="0"/>
          </a:xfrm>
          <a:prstGeom prst="line">
            <a:avLst/>
          </a:prstGeom>
          <a:noFill/>
          <a:ln w="6350">
            <a:solidFill>
              <a:srgbClr val="D0DC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63440" y="440740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top pair: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080760" y="440740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("u","n") → freq 16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BPE: Tokenization at Inference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merge rules in the order they were learned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6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412480" cy="1417320"/>
          </a:xfrm>
          <a:prstGeom prst="rect">
            <a:avLst/>
          </a:prstGeom>
          <a:solidFill>
            <a:srgbClr val="EBF8F4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ORDER of merge rules resolves all tokenization ambiguity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rules (more frequent merges) always take priority over later ones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28346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Tokenizing "hug" with rules: [("u","g")→"ug",  ("h","ug")→"hug"]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329184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3291840"/>
            <a:ext cx="2651760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4015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85876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["h", "u", "g"]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98648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154680" y="329184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3291840"/>
            <a:ext cx="26517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34015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rule 1 (u+g→ug)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46120" y="385876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["h", "ug"]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79008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035040" y="3291840"/>
            <a:ext cx="26517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35040" y="3291840"/>
            <a:ext cx="265176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34015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rule 2 (h+ug→hug)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26480" y="385876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["hug"]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WordPiece: The BERT Tokenizer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Schuster &amp; Nakajima 2012 → adopted by BERT, DistilBERT, MobileBERT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7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023360" cy="1920240"/>
          </a:xfrm>
          <a:prstGeom prst="rect">
            <a:avLst/>
          </a:prstGeom>
          <a:solidFill>
            <a:srgbClr val="FFFBEB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2618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## Prefix Convention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"playing"  →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83080" y="169164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 ##l  ##a  ##y  ##i  ##n  ##g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103120"/>
            <a:ext cx="3749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marks continuation tokens.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Distinguishes word-start from word-middle.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in BERT's vocabulary today.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234440"/>
            <a:ext cx="4206240" cy="1920240"/>
          </a:xfrm>
          <a:prstGeom prst="rect">
            <a:avLst/>
          </a:prstGeom>
          <a:solidFill>
            <a:srgbClr val="EFF6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261872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Scoring Formula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691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score(A,B) =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5727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freq(AB)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92240" y="1920240"/>
            <a:ext cx="21945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96596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freq(A) × freq(B)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33172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pairs that are rare individually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frequent together — informative merges.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7432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why score beats frequency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" y="37033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("un", "##known"):  score LOW  — both tokens common in many words → DON'T merge eagerly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1148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("bund", "##es"):   score HIGH — almost always appear together → MERGE quickly → "bundes"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WordPiece: Tokenization at Inference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longest-match-first — no merge rules stored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8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412480" cy="777240"/>
          </a:xfrm>
          <a:prstGeom prst="rect">
            <a:avLst/>
          </a:prstGeom>
          <a:solidFill>
            <a:srgbClr val="FFFBEB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35331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BPE, WordPiece stores ONLY the final vocabulary — not the merge rules.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21762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Greedy Longest Match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4754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6334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Start at position 0 of the word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081528"/>
            <a:ext cx="4754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Find LONGEST prefix that exists in vocabulary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557016"/>
            <a:ext cx="4754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5844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Add it as a token, advance to next position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4032504"/>
            <a:ext cx="47548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405993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Prefix remaining string with ## and repeat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507992"/>
            <a:ext cx="4754880" cy="420624"/>
          </a:xfrm>
          <a:prstGeom prst="rect">
            <a:avLst/>
          </a:prstGeom>
          <a:solidFill>
            <a:srgbClr val="FEE2E2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453542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If no match found → entire word = [UNK]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0" y="2176272"/>
            <a:ext cx="3566160" cy="2651760"/>
          </a:xfrm>
          <a:prstGeom prst="rect">
            <a:avLst/>
          </a:prstGeom>
          <a:solidFill>
            <a:srgbClr val="F0FDF4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94960" y="2240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OOV Difference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2670048"/>
            <a:ext cx="338328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BPE: always segments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falls back to characters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never returns [UNK]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WordPiece: stricter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returns [UNK] for whole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word if any position fails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vs WordPiece: Key Differences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algorithms, same goal, different strategies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9 / 20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834640"/>
                <a:gridCol w="32004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WordPiece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criterion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frequency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score = freq(AB)/(freq(A)×freq(B))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at inference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rules + vocabulary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Vocabulary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Tokenizes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Replaying merge rules in 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Longest-match-first on vocabulary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OOV handling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Falls back to characters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[UNK] for whole 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## prefix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GPT, GPT-2, RoBERTa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BERT, DistilBERT, MobileBERT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lives in src/ — notebooks are thin execution layers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10 / 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664208"/>
            <a:ext cx="4114800" cy="420624"/>
          </a:xfrm>
          <a:prstGeom prst="rect">
            <a:avLst/>
          </a:prstGeom>
          <a:solidFill>
            <a:srgbClr val="EBF8F4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1691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src/config.py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169164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all paths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139696"/>
            <a:ext cx="4114800" cy="420624"/>
          </a:xfrm>
          <a:prstGeom prst="rect">
            <a:avLst/>
          </a:prstGeom>
          <a:solidFill>
            <a:srgbClr val="EBF8F4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" y="216712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src/bpe.py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216712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trainer + tokenizer (naive + fast)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615184"/>
            <a:ext cx="4114800" cy="420624"/>
          </a:xfrm>
          <a:prstGeom prst="rect">
            <a:avLst/>
          </a:prstGeom>
          <a:solidFill>
            <a:srgbClr val="EBF8F4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264261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src/wordpiece.py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2642616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 trainer + tokenizer (naive + fast)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090672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" y="311810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00_setup.ipynb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3118104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download + preprocessing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566160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048" y="35935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01_bpe.ipynb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20240" y="359359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training + benchmarking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041648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" y="406908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02_wordpiece.ipynb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20240" y="406908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 training + benchmarking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4517136"/>
            <a:ext cx="411480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84048" y="45445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03_experiments.ipynb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920240" y="45445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+ comparison graphs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1234440"/>
            <a:ext cx="4206240" cy="3474720"/>
          </a:xfrm>
          <a:prstGeom prst="rect">
            <a:avLst/>
          </a:prstGeom>
          <a:solidFill>
            <a:srgbClr val="EBF8F4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00600" y="13258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Rule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800600" y="1810512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NEVER lives in notebooks.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00600" y="228600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notebook follows: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Clone/Pull from GitHub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Import from src/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Call functions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Push to GitHub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Colab restarts → run Cell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only. Everything else works.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63440" y="46634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Wikipedia (10%)</a:t>
            </a:r>
            <a:endParaRPr lang="en-US" sz="1100" dirty="0"/>
          </a:p>
          <a:p>
            <a:pPr algn="r" indent="0" marL="0">
              <a:buNone/>
            </a:pPr>
            <a:r>
              <a:rPr lang="en-US" sz="11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3.9M unique words</a:t>
            </a:r>
            <a:endParaRPr lang="en-US" sz="1100" dirty="0"/>
          </a:p>
          <a:p>
            <a:pPr algn="r" indent="0" marL="0">
              <a:buNone/>
            </a:pPr>
            <a:r>
              <a:rPr lang="en-US" sz="11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257M total tokens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Implementations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but slow — the bottleneck is clear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11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0233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34440"/>
            <a:ext cx="4023360" cy="36576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5272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BPE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664208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merge step: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Scan ALL words in corpus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Count ALL adjacent pairs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Find max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Apply merge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Repeat from step 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complexity: O(V × N)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~15s for 1k merges, 5k words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~4.8 hours for 20k merges,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corpus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20624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34440"/>
            <a:ext cx="4206240" cy="36576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25272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WordPiece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664208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merge step: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Scan ALL words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Compute score(A,B) for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every pair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Find max score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Apply merge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Repeat from step 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complexity: O(V × N)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~30s for 1k merges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TWICE as slow as BPE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(extra division per pair)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BPE: 3 Data Structures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+ Inverse Index + Lazy Deletion → 30x speedup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12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4124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34440"/>
            <a:ext cx="73152" cy="11155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9844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Priority Queue (Max-Heap)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169164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pairs as (-count, pair[0], pair[1]).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pair retrieved in O(log n) instead of O(n).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Negated count turns min-heap into max-heap.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468880"/>
            <a:ext cx="84124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468880"/>
            <a:ext cx="73152" cy="11155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3288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Inverse Index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292608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pair → {set of words containing it}.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merge: only update AFFECTED words.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entire vocabulary.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703320"/>
            <a:ext cx="84124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03320"/>
            <a:ext cx="73152" cy="1115568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767328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Lazy Deletion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4160520"/>
            <a:ext cx="7955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remove stale heap entries (expensive).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popping: check if heap count matches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count. If not → skip (stale entry).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663440"/>
            <a:ext cx="8412480" cy="347472"/>
          </a:xfrm>
          <a:prstGeom prst="rect">
            <a:avLst/>
          </a:prstGeom>
          <a:solidFill>
            <a:srgbClr val="EBF8F4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470001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O(M × W × L) instead of O(M × V)  →  ~30x faster on 1k merges, ~5000x projected improvement on full corpus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WordPiece: Incremental Score Updates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priority queue + inverse index, with one extra challenge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13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412480" cy="960120"/>
          </a:xfrm>
          <a:prstGeom prst="rect">
            <a:avLst/>
          </a:prstGeom>
          <a:solidFill>
            <a:srgbClr val="FFFBEB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 Challenge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 scores depend on letter_freqs which CHANGE after every merge — so cached scores become stale not just due to pair freq changes but also individual token freq changes.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304288"/>
            <a:ext cx="84124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304288"/>
            <a:ext cx="73152" cy="8412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317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letter_freqs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6517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merge removes old forms: subtract their letter_freq contributions.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new merged forms added: add new contributions back.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O(V) full recomputation at every step.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236976"/>
            <a:ext cx="84124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236976"/>
            <a:ext cx="73152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2644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Score Detection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3584448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popping from heap: recompute current score.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|heap_score - current_score| &gt; 1e-10 → skip (stale).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handles both pair freq AND letter_freq staleness.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169664"/>
            <a:ext cx="8412480" cy="841248"/>
          </a:xfrm>
          <a:prstGeom prst="rect">
            <a:avLst/>
          </a:prstGeom>
          <a:solidFill>
            <a:srgbClr val="EFF6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4169664"/>
            <a:ext cx="73152" cy="84124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1970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Finding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517136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and fast WordPiece produce DIFFERENT vocabularies.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incremental updates vs full recomputation change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pairs win on tied scores → a known algorithmic sensitivity.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1: Training Speed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implementations achieve massive speedups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14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0233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34440"/>
            <a:ext cx="40233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71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18745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~30×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411480" y="2788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3108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15s → 0.5s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402336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34440"/>
            <a:ext cx="4023360" cy="73152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371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00600" y="18745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~85×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4800600" y="27889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3108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 → 0.4s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" y="365760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on full corpus (20k merges):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041648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28346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~4.8 hours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 minutes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WordPiece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~8.7 hours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 minutes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2: Vocabulary Size Effects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learns richer tokens — 2-3x fewer tokens per sentence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15 / 20</a:t>
            </a:r>
            <a:endParaRPr lang="en-US" sz="1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188720"/>
          <a:ext cx="54864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989320" y="1188720"/>
            <a:ext cx="2880360" cy="3657600"/>
          </a:xfrm>
          <a:prstGeom prst="rect">
            <a:avLst/>
          </a:prstGeom>
          <a:solidFill>
            <a:srgbClr val="EBF8F4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126480" y="1298448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126480" y="17373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BPE: 15.8 → 9.2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(42% drop)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26480" y="2450592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WP: 45.8 → 19.6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(57% drop)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26480" y="3154680"/>
            <a:ext cx="2606040" cy="0"/>
          </a:xfrm>
          <a:prstGeom prst="line">
            <a:avLst/>
          </a:prstGeom>
          <a:noFill/>
          <a:ln w="6350">
            <a:solidFill>
              <a:srgbClr val="D0DC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3246120"/>
            <a:ext cx="2606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 needs larger vocabularies to match BPE's compression.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3: Morphological Evaluation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German words — 5 categories — manually constructed gold standard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16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34440"/>
            <a:ext cx="40233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1480" y="17830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2286000" y="1920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morpheme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606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exact match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402336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34440"/>
            <a:ext cx="4023360" cy="73152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0600" y="178308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6675120" y="1920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morpheme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606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exact match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312724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examples (10k vocab):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3547872"/>
            <a:ext cx="84124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" y="3575304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bundesrepublik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14600" y="3575304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BPE: bundes | republik ✅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23560" y="357530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WP: bundes | ##republik ✅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4023360"/>
            <a:ext cx="8412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405079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unbekannt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514600" y="4050792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BPE: un | bekannt ✅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23560" y="405079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WP: u | ##n | ##b | ... 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498848"/>
            <a:ext cx="841248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11480" y="452628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gespielt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514600" y="452628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BPE: ge | spiel | t ✅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623560" y="45262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WP: g | ##e | ##spiel | ##t ❌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4: OOV and Rare Word Handling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algorithm handles words it has never seen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17 / 20</a:t>
            </a:r>
            <a:endParaRPr lang="en-US" sz="1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371600"/>
                <a:gridCol w="1371600"/>
                <a:gridCol w="27432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BPE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BPE segmentation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supermarktverkäuferin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super|markt|ver|k|äufer|in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maschinenlernalgorithmus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maschinen|lern|algorithmus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donaudampfschifffahrt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donau|dampf|schifffahrt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unverarbeitbarkeit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un|ver|arbeit|barkeit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tokenization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to|ken|iz|ation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4160520"/>
            <a:ext cx="4023360" cy="777240"/>
          </a:xfrm>
          <a:prstGeom prst="rect">
            <a:avLst/>
          </a:prstGeom>
          <a:solidFill>
            <a:srgbClr val="EBF8F4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42062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BPE: always produces a segmentation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Falls back to characters if needed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Never returns [UNK]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480560" y="4160520"/>
            <a:ext cx="4206240" cy="777240"/>
          </a:xfrm>
          <a:prstGeom prst="rect">
            <a:avLst/>
          </a:prstGeom>
          <a:solidFill>
            <a:srgbClr val="FEF9EC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663440" y="42062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WordPiece: returns [UNK] if ANY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finds no vocabulary match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Stricter but less robust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Summary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 wins at this scale — but WordPiece has theoretical advantages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18 / 20</a:t>
            </a:r>
            <a:endParaRPr lang="en-US" sz="1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841248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286000"/>
                <a:gridCol w="22860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WordPiece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speed (1k merges)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~15s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speed (1k merges)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~85x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tokens/sentence (10k vocab)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Morpheme score (10k vocab)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 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morpheme matches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4/20 (20%)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1/20 (5%)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OOV handling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[UNK]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at inference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 rules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Vocab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Nuanced picture — scale and corpus matter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19 / 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234440"/>
            <a:ext cx="73152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BPE's practical advantages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62763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1k-10k vocab on a partial corpus, BPE outperforms on every metric: compression, morphology, OOV robustness. Simple to inspect — just a list of merge rules.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167128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167128"/>
            <a:ext cx="73152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128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WordPiece's theoretical advantages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256032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Information-theoretic scoring is mathematically stronger. Advantages become more pronounced at 30k+ tokens and full corpus training (production BERT uses 30k vocab).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099816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099816"/>
            <a:ext cx="73152" cy="82296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4553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divergence finding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4930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and fast WordPiece produce different vocabularies. Root cause: incremental letter_freq updates change score ordering — a known numerical sensitivity. Both are valid implementations.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032504"/>
            <a:ext cx="84124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4032504"/>
            <a:ext cx="73152" cy="82296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07822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German was the right choice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442569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compound words (bundesrepublik, maschinenlernalgorithmus) clearly differentiated the algorithms. English morphology is too simple to show meaningful differences.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8C8"/>
                </a:solidFill>
              </a:rPr>
              <a:t>20 / 20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Built from scratch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834640" y="132588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BPE and WordPiece implemented without Hugging Face — naive + fast versions.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673352"/>
            <a:ext cx="8412480" cy="0"/>
          </a:xfrm>
          <a:prstGeom prst="line">
            <a:avLst/>
          </a:prstGeom>
          <a:noFill/>
          <a:ln w="6350">
            <a:solidFill>
              <a:srgbClr val="1E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03911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Massive speedups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34640" y="2039112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30x for BPE, 85x for WordPiece — using priority queue + inverse index.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386584"/>
            <a:ext cx="8412480" cy="0"/>
          </a:xfrm>
          <a:prstGeom prst="line">
            <a:avLst/>
          </a:prstGeom>
          <a:noFill/>
          <a:ln w="6350">
            <a:solidFill>
              <a:srgbClr val="1E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75234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BPE wins at this scale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34640" y="2752344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Morpheme score 0.91 vs 0.48. 2-3x fewer tokens/sentence across all vocab sizes.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099816"/>
            <a:ext cx="8412480" cy="0"/>
          </a:xfrm>
          <a:prstGeom prst="line">
            <a:avLst/>
          </a:prstGeom>
          <a:noFill/>
          <a:ln w="6350">
            <a:solidFill>
              <a:srgbClr val="1E4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46557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Scientific finding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3465576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WordPiece naive/fast divergence documented — a known numerical sensitivity.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813048"/>
            <a:ext cx="8412480" cy="0"/>
          </a:xfrm>
          <a:prstGeom prst="line">
            <a:avLst/>
          </a:prstGeom>
          <a:noFill/>
          <a:ln w="6350">
            <a:solidFill>
              <a:srgbClr val="1E4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1788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German was the right choice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4178808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words clearly differentiated the algorithms in ways English couldn't.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ibrar-ul-hassan / Implementing-classic-subword-tokenization-algorithms-BPE-and-WordPiece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BPE and WordPiece Tokenization</dc:title>
  <dc:subject>PptxGenJS Presentation</dc:subject>
  <dc:creator>PptxGenJS</dc:creator>
  <cp:lastModifiedBy>PptxGenJS</cp:lastModifiedBy>
  <cp:revision>1</cp:revision>
  <dcterms:created xsi:type="dcterms:W3CDTF">2026-03-21T16:39:42Z</dcterms:created>
  <dcterms:modified xsi:type="dcterms:W3CDTF">2026-03-21T16:39:42Z</dcterms:modified>
</cp:coreProperties>
</file>