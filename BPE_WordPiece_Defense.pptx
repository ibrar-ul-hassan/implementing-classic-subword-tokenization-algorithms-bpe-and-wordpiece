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IBRAR opens. Good morning. We were asked to build two of the engines inside modern language models — the tokenizers BPE and WordPiece — from scratch, and to compare them scientifically. I'll cover the algorithms, Dayo will cover the experiments, and Lama will cover what we learned. Pause on the title.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IBRAR. The starting problem: a neural network only understands numbers. So the very first job is to cut text into units and number them. The whole field comes down to one question — what should a token be? Don't rush this slide; it frames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IBRAR. Three ways to choose a token. Characters: never fails, but too granular — the model drowns in detail. Words: intuitive, but language is infinite, so unknown words break it (the OOV problem). Subwords: the Goldilocks zone — reusable pieces. 'unbreakability' becomes un + break + ability. This is what BPE and WordPiece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IBRAR. One distinction before the algorithms: training (done once, learns the vocabulary) versus tokenizing (runs on every sentence, applies it). Keep them separate in your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IBRAR. BPE's rule is beautifully simple: merge the most frequent adjacent pair, over and over. Start from characters, glue the commonest pair, repeat. It records the order of merges, which makes tokenizing perfectly reproducible. Walk through the es → est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IBRAR. WordPiece looks similar but chooses differently. Instead of frequency it uses a score: frequency of the pair divided by the frequency of each piece. The denominator punishes pairs whose halves are each already common. So WordPiece prefers INFORMATIVE pairs, not merely frequent ones. This single difference explains everything Dayo will show. Give the 'de' vs 'qu' intuition.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IBRAR. Tokenizing isn't always unambiguous. 'there' could split several ways. BPE resolves it by replaying merges in their learned order. WordPiece resolves it by greedy longest-match. And in training, ties are broken alphabetically so our naive and fast versions always agree. Then hand to Dayo.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DAYO takes over here. I ran the experiments. We trained both algorithms, in naive and fast forms, on German Wikipedia — chosen because German morphology is rich. Five experiments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DAYO. Experiment one: does the fast version matter? Yes, dramatically. As the corpus grows, naive WordPiece climbs to almost four minutes; fast stays under a second. The point isn't a single speed-up number — it's the SHAPE: naive grows with the data, fast stays flat.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DAYO. WordPiece's score over-rewards very rare pairs, making junk merges. A frequency threshold fixes that and raises naive/fast agreement from 58 to 95 percent. But it's a trade-off: too high a threshold starves the vocabulary, which saturates below the size we asked for. Quality versus quantity.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DAYO. Why does token count matter? Attention builds an n-by-n matrix, so cost grows with the square of the number of tokens. Because un-tuned WordPiece produces about three times more tokens than BPE, it implies an attention matrix up to ten times larger. Tokenizer choice is an efficiency lever, not just preprocessing.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DAYO. The core finding. We compared each algorithm's splits to a German morphological gold standard. BPE recalls 91% of morphemes with NO tuning — its frequency merging happens to align with morphology. Un-tuned WordPiece only 27%. The threshold doubles it to 54%, but only by saturating the vocabulary. BPE gets good morphology for free; WordPiece has to be tuned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DAYO. We're transparent about the road. We found a real bug — our fast WordPiece discarded valid candidate pairs from its queue, which we'd wrongly called a 'finding.' We fixed it. We also found the threshold saturation. We documented both, with provenance: diagnosed with help from Claude, cross-checked against HuggingFace docs. Then hand to Lama.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LAMA takes over for the synthesis. Three things we learned. One: the fast versions turn linear training time into near-constant time. Two: the two algorithms differ because they optimise different things — frequency versus informativeness. Three: on German, BPE aligns with morphology for free; WordPiece must be tuned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LAMA. Honest limits. Our gold standard is small and hand-built. Our vocabularies are small next to production tokenizers like BERT's 30k. And the inflection test — trinke, trinkst, getrunken — defeats BOTH algorithms: neither isolates the shared root. That's the real boundary of statistical tokenization: it learns patterns, not linguistics.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LAMA closes. We built both engines from scratch, made them fast, and compared them honestly. We learned the most from the difficulties — a bug that taught us why WordPiece is hard to optimise, a fix that revealed a trade-off, and a test that showed the limits of both. Thank you — we're happy to take questions, and to demo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BFD"/>
        </a:solidFill>
      </p:bgPr>
    </p:bg>
    <p:spTree>
      <p:nvGrpSpPr>
        <p:cNvPr id="1" name=""/>
        <p:cNvGrpSpPr/>
        <p:nvPr/>
      </p:nvGrpSpPr>
      <p:grpSpPr>
        <a:xfrm>
          <a:off x="0" y="0"/>
          <a:ext cx="0" cy="0"/>
          <a:chOff x="0" y="0"/>
          <a:chExt cx="0" cy="0"/>
        </a:xfrm>
      </p:grpSpPr>
      <p:sp>
        <p:nvSpPr>
          <p:cNvPr id="3" name="Text 0"/>
          <p:cNvSpPr/>
          <p:nvPr/>
        </p:nvSpPr>
        <p:spPr>
          <a:xfrm>
            <a:off x="841248" y="2286000"/>
            <a:ext cx="10515600" cy="1188720"/>
          </a:xfrm>
          <a:prstGeom prst="rect">
            <a:avLst/>
          </a:prstGeom>
          <a:noFill/>
          <a:ln/>
        </p:spPr>
        <p:txBody>
          <a:bodyPr wrap="square" lIns="0" tIns="0" rIns="0" bIns="0" rtlCol="0" anchor="ctr"/>
          <a:lstStyle/>
          <a:p>
            <a:pPr indent="0" marL="0">
              <a:buNone/>
            </a:pPr>
            <a:r>
              <a:rPr lang="en-US" sz="6000" b="1" dirty="0">
                <a:solidFill>
                  <a:srgbClr val="1D1D1F"/>
                </a:solidFill>
                <a:latin typeface="Cambria" pitchFamily="34" charset="0"/>
                <a:ea typeface="Cambria" pitchFamily="34" charset="-122"/>
                <a:cs typeface="Cambria" pitchFamily="34" charset="-120"/>
              </a:rPr>
              <a:t>BPE &amp; WordPiece</a:t>
            </a:r>
            <a:endParaRPr lang="en-US" sz="6000" dirty="0"/>
          </a:p>
        </p:txBody>
      </p:sp>
      <p:sp>
        <p:nvSpPr>
          <p:cNvPr id="4" name="Text 1"/>
          <p:cNvSpPr/>
          <p:nvPr/>
        </p:nvSpPr>
        <p:spPr>
          <a:xfrm>
            <a:off x="841248" y="3520440"/>
            <a:ext cx="10058400" cy="548640"/>
          </a:xfrm>
          <a:prstGeom prst="rect">
            <a:avLst/>
          </a:prstGeom>
          <a:noFill/>
          <a:ln/>
        </p:spPr>
        <p:txBody>
          <a:bodyPr wrap="square" lIns="0" tIns="0" rIns="0" bIns="0" rtlCol="0" anchor="ctr"/>
          <a:lstStyle/>
          <a:p>
            <a:pPr indent="0" marL="0">
              <a:buNone/>
            </a:pPr>
            <a:r>
              <a:rPr lang="en-US" sz="2000" dirty="0">
                <a:solidFill>
                  <a:srgbClr val="86868B"/>
                </a:solidFill>
                <a:latin typeface="Arial" pitchFamily="34" charset="0"/>
                <a:ea typeface="Arial" pitchFamily="34" charset="-122"/>
                <a:cs typeface="Arial" pitchFamily="34" charset="-120"/>
              </a:rPr>
              <a:t>Building two engines of modern language models, from scratch.</a:t>
            </a:r>
            <a:endParaRPr lang="en-US" sz="2000" dirty="0"/>
          </a:p>
        </p:txBody>
      </p:sp>
      <p:sp>
        <p:nvSpPr>
          <p:cNvPr id="5" name="Shape 2"/>
          <p:cNvSpPr/>
          <p:nvPr/>
        </p:nvSpPr>
        <p:spPr>
          <a:xfrm>
            <a:off x="841248" y="4343400"/>
            <a:ext cx="1828800" cy="0"/>
          </a:xfrm>
          <a:prstGeom prst="line">
            <a:avLst/>
          </a:prstGeom>
          <a:noFill/>
          <a:ln w="31750">
            <a:solidFill>
              <a:srgbClr val="0071E3"/>
            </a:solidFill>
            <a:prstDash val="solid"/>
          </a:ln>
        </p:spPr>
      </p:sp>
      <p:sp>
        <p:nvSpPr>
          <p:cNvPr id="6" name="Text 3"/>
          <p:cNvSpPr/>
          <p:nvPr/>
        </p:nvSpPr>
        <p:spPr>
          <a:xfrm>
            <a:off x="841248" y="4709160"/>
            <a:ext cx="9144000" cy="822960"/>
          </a:xfrm>
          <a:prstGeom prst="rect">
            <a:avLst/>
          </a:prstGeom>
          <a:noFill/>
          <a:ln/>
        </p:spPr>
        <p:txBody>
          <a:bodyPr wrap="square" lIns="0" tIns="0" rIns="0" bIns="0" rtlCol="0" anchor="ctr"/>
          <a:lstStyle/>
          <a:p>
            <a:pPr indent="0" marL="0">
              <a:lnSpc>
                <a:spcPct val="130000"/>
              </a:lnSpc>
              <a:buNone/>
            </a:pPr>
            <a:r>
              <a:rPr lang="en-US" sz="1500" dirty="0">
                <a:solidFill>
                  <a:srgbClr val="1D1D1F"/>
                </a:solidFill>
                <a:latin typeface="Arial" pitchFamily="34" charset="0"/>
                <a:ea typeface="Arial" pitchFamily="34" charset="-122"/>
                <a:cs typeface="Arial" pitchFamily="34" charset="-120"/>
              </a:rPr>
              <a:t>Ibrar  ·  Dayo  ·  Lama</a:t>
            </a:r>
            <a:endParaRPr lang="en-US" sz="1500" dirty="0"/>
          </a:p>
          <a:p>
            <a:pPr indent="0" marL="0">
              <a:lnSpc>
                <a:spcPct val="130000"/>
              </a:lnSpc>
              <a:buNone/>
            </a:pPr>
            <a:r>
              <a:rPr lang="en-US" sz="1300" dirty="0">
                <a:solidFill>
                  <a:srgbClr val="86868B"/>
                </a:solidFill>
                <a:latin typeface="Arial" pitchFamily="34" charset="0"/>
                <a:ea typeface="Arial" pitchFamily="34" charset="-122"/>
                <a:cs typeface="Arial" pitchFamily="34" charset="-120"/>
              </a:rPr>
              <a:t>Supervisor: Marie Candito  —  M1, Université Paris Cité</a:t>
            </a:r>
            <a:endParaRPr lang="en-US" sz="1500" dirty="0"/>
          </a:p>
        </p:txBody>
      </p:sp>
      <p:sp>
        <p:nvSpPr>
          <p:cNvPr id="7" name="Text 4"/>
          <p:cNvSpPr/>
          <p:nvPr/>
        </p:nvSpPr>
        <p:spPr>
          <a:xfrm>
            <a:off x="11155680" y="6355080"/>
            <a:ext cx="457200" cy="274320"/>
          </a:xfrm>
          <a:prstGeom prst="rect">
            <a:avLst/>
          </a:prstGeom>
          <a:noFill/>
          <a:ln/>
        </p:spPr>
        <p:txBody>
          <a:bodyPr wrap="square" lIns="0" tIns="0" rIns="0" bIns="0" rtlCol="0" anchor="ctr"/>
          <a:lstStyle/>
          <a:p>
            <a:pPr algn="r" indent="0" marL="0">
              <a:buNone/>
            </a:pPr>
            <a:r>
              <a:rPr lang="en-US" sz="1000" dirty="0">
                <a:solidFill>
                  <a:srgbClr val="D2D2D7"/>
                </a:solidFill>
                <a:latin typeface="Arial" pitchFamily="34" charset="0"/>
                <a:ea typeface="Arial" pitchFamily="34" charset="-122"/>
                <a:cs typeface="Arial"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D"/>
        </a:solidFill>
      </p:bgPr>
    </p:bg>
    <p:spTree>
      <p:nvGrpSpPr>
        <p:cNvPr id="1" name=""/>
        <p:cNvGrpSpPr/>
        <p:nvPr/>
      </p:nvGrpSpPr>
      <p:grpSpPr>
        <a:xfrm>
          <a:off x="0" y="0"/>
          <a:ext cx="0" cy="0"/>
          <a:chOff x="0" y="0"/>
          <a:chExt cx="0" cy="0"/>
        </a:xfrm>
      </p:grpSpPr>
      <p:sp>
        <p:nvSpPr>
          <p:cNvPr id="3" name="Text 0"/>
          <p:cNvSpPr/>
          <p:nvPr/>
        </p:nvSpPr>
        <p:spPr>
          <a:xfrm>
            <a:off x="9235440" y="384048"/>
            <a:ext cx="2194560" cy="274320"/>
          </a:xfrm>
          <a:prstGeom prst="rect">
            <a:avLst/>
          </a:prstGeom>
          <a:noFill/>
          <a:ln/>
        </p:spPr>
        <p:txBody>
          <a:bodyPr wrap="square" lIns="0" tIns="0" rIns="0" bIns="0" rtlCol="0" anchor="ctr"/>
          <a:lstStyle/>
          <a:p>
            <a:pPr algn="r" indent="0" marL="0">
              <a:buNone/>
            </a:pPr>
            <a:r>
              <a:rPr lang="en-US" sz="950" spc="200" kern="0" dirty="0">
                <a:solidFill>
                  <a:srgbClr val="86868B"/>
                </a:solidFill>
                <a:latin typeface="Arial" pitchFamily="34" charset="0"/>
                <a:ea typeface="Arial" pitchFamily="34" charset="-122"/>
                <a:cs typeface="Arial" pitchFamily="34" charset="-120"/>
              </a:rPr>
              <a:t>IBRAR</a:t>
            </a:r>
            <a:endParaRPr lang="en-US" sz="950" dirty="0"/>
          </a:p>
        </p:txBody>
      </p:sp>
      <p:sp>
        <p:nvSpPr>
          <p:cNvPr id="4" name="Text 1"/>
          <p:cNvSpPr/>
          <p:nvPr/>
        </p:nvSpPr>
        <p:spPr>
          <a:xfrm>
            <a:off x="841248" y="640080"/>
            <a:ext cx="7315200" cy="274320"/>
          </a:xfrm>
          <a:prstGeom prst="rect">
            <a:avLst/>
          </a:prstGeom>
          <a:noFill/>
          <a:ln/>
        </p:spPr>
        <p:txBody>
          <a:bodyPr wrap="square" lIns="0" tIns="0" rIns="0" bIns="0" rtlCol="0" anchor="ctr"/>
          <a:lstStyle/>
          <a:p>
            <a:pPr indent="0" marL="0">
              <a:buNone/>
            </a:pPr>
            <a:r>
              <a:rPr lang="en-US" sz="1100" b="1" spc="300" kern="0" dirty="0">
                <a:solidFill>
                  <a:srgbClr val="0071E3"/>
                </a:solidFill>
                <a:latin typeface="Arial" pitchFamily="34" charset="0"/>
                <a:ea typeface="Arial" pitchFamily="34" charset="-122"/>
                <a:cs typeface="Arial" pitchFamily="34" charset="-120"/>
              </a:rPr>
              <a:t>THE TASK</a:t>
            </a:r>
            <a:endParaRPr lang="en-US" sz="1100" dirty="0"/>
          </a:p>
        </p:txBody>
      </p:sp>
      <p:sp>
        <p:nvSpPr>
          <p:cNvPr id="5" name="Text 2"/>
          <p:cNvSpPr/>
          <p:nvPr/>
        </p:nvSpPr>
        <p:spPr>
          <a:xfrm>
            <a:off x="841248" y="1554480"/>
            <a:ext cx="10058400" cy="1645920"/>
          </a:xfrm>
          <a:prstGeom prst="rect">
            <a:avLst/>
          </a:prstGeom>
          <a:noFill/>
          <a:ln/>
        </p:spPr>
        <p:txBody>
          <a:bodyPr wrap="square" lIns="0" tIns="0" rIns="0" bIns="0" rtlCol="0" anchor="ctr"/>
          <a:lstStyle/>
          <a:p>
            <a:pPr indent="0" marL="0">
              <a:lnSpc>
                <a:spcPct val="105000"/>
              </a:lnSpc>
              <a:buNone/>
            </a:pPr>
            <a:r>
              <a:rPr lang="en-US" sz="4400" b="1" dirty="0">
                <a:solidFill>
                  <a:srgbClr val="1D1D1F"/>
                </a:solidFill>
                <a:latin typeface="Cambria" pitchFamily="34" charset="0"/>
                <a:ea typeface="Cambria" pitchFamily="34" charset="-122"/>
                <a:cs typeface="Cambria" pitchFamily="34" charset="-120"/>
              </a:rPr>
              <a:t>A computer only</a:t>
            </a:r>
            <a:endParaRPr lang="en-US" sz="4400" dirty="0"/>
          </a:p>
          <a:p>
            <a:pPr indent="0" marL="0">
              <a:lnSpc>
                <a:spcPct val="105000"/>
              </a:lnSpc>
              <a:buNone/>
            </a:pPr>
            <a:r>
              <a:rPr lang="en-US" sz="4400" b="1" dirty="0">
                <a:solidFill>
                  <a:srgbClr val="1D1D1F"/>
                </a:solidFill>
                <a:latin typeface="Cambria" pitchFamily="34" charset="0"/>
                <a:ea typeface="Cambria" pitchFamily="34" charset="-122"/>
                <a:cs typeface="Cambria" pitchFamily="34" charset="-120"/>
              </a:rPr>
              <a:t>understands numbers.</a:t>
            </a:r>
            <a:endParaRPr lang="en-US" sz="4400" dirty="0"/>
          </a:p>
        </p:txBody>
      </p:sp>
      <p:sp>
        <p:nvSpPr>
          <p:cNvPr id="6" name="Text 3"/>
          <p:cNvSpPr/>
          <p:nvPr/>
        </p:nvSpPr>
        <p:spPr>
          <a:xfrm>
            <a:off x="841248" y="3657600"/>
            <a:ext cx="8778240" cy="1097280"/>
          </a:xfrm>
          <a:prstGeom prst="rect">
            <a:avLst/>
          </a:prstGeom>
          <a:noFill/>
          <a:ln/>
        </p:spPr>
        <p:txBody>
          <a:bodyPr wrap="square" lIns="0" tIns="0" rIns="0" bIns="0" rtlCol="0" anchor="ctr"/>
          <a:lstStyle/>
          <a:p>
            <a:pPr indent="0" marL="0">
              <a:lnSpc>
                <a:spcPct val="130000"/>
              </a:lnSpc>
              <a:buNone/>
            </a:pPr>
            <a:r>
              <a:rPr lang="en-US" sz="1900" dirty="0">
                <a:solidFill>
                  <a:srgbClr val="86868B"/>
                </a:solidFill>
                <a:latin typeface="Arial" pitchFamily="34" charset="0"/>
                <a:ea typeface="Arial" pitchFamily="34" charset="-122"/>
                <a:cs typeface="Arial" pitchFamily="34" charset="-120"/>
              </a:rPr>
              <a:t>Before a model can read “the cats are running,” that sentence must become a list of numbers. The question that defines everything: what should one token be?</a:t>
            </a:r>
            <a:endParaRPr lang="en-US" sz="1900" dirty="0"/>
          </a:p>
        </p:txBody>
      </p:sp>
      <p:sp>
        <p:nvSpPr>
          <p:cNvPr id="7" name="Text 4"/>
          <p:cNvSpPr/>
          <p:nvPr/>
        </p:nvSpPr>
        <p:spPr>
          <a:xfrm>
            <a:off x="11155680" y="6355080"/>
            <a:ext cx="457200" cy="274320"/>
          </a:xfrm>
          <a:prstGeom prst="rect">
            <a:avLst/>
          </a:prstGeom>
          <a:noFill/>
          <a:ln/>
        </p:spPr>
        <p:txBody>
          <a:bodyPr wrap="square" lIns="0" tIns="0" rIns="0" bIns="0" rtlCol="0" anchor="ctr"/>
          <a:lstStyle/>
          <a:p>
            <a:pPr algn="r" indent="0" marL="0">
              <a:buNone/>
            </a:pPr>
            <a:r>
              <a:rPr lang="en-US" sz="1000" dirty="0">
                <a:solidFill>
                  <a:srgbClr val="D2D2D7"/>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D"/>
        </a:solidFill>
      </p:bgPr>
    </p:bg>
    <p:spTree>
      <p:nvGrpSpPr>
        <p:cNvPr id="1" name=""/>
        <p:cNvGrpSpPr/>
        <p:nvPr/>
      </p:nvGrpSpPr>
      <p:grpSpPr>
        <a:xfrm>
          <a:off x="0" y="0"/>
          <a:ext cx="0" cy="0"/>
          <a:chOff x="0" y="0"/>
          <a:chExt cx="0" cy="0"/>
        </a:xfrm>
      </p:grpSpPr>
      <p:sp>
        <p:nvSpPr>
          <p:cNvPr id="3" name="Text 0"/>
          <p:cNvSpPr/>
          <p:nvPr/>
        </p:nvSpPr>
        <p:spPr>
          <a:xfrm>
            <a:off x="9235440" y="384048"/>
            <a:ext cx="2194560" cy="274320"/>
          </a:xfrm>
          <a:prstGeom prst="rect">
            <a:avLst/>
          </a:prstGeom>
          <a:noFill/>
          <a:ln/>
        </p:spPr>
        <p:txBody>
          <a:bodyPr wrap="square" lIns="0" tIns="0" rIns="0" bIns="0" rtlCol="0" anchor="ctr"/>
          <a:lstStyle/>
          <a:p>
            <a:pPr algn="r" indent="0" marL="0">
              <a:buNone/>
            </a:pPr>
            <a:r>
              <a:rPr lang="en-US" sz="950" spc="200" kern="0" dirty="0">
                <a:solidFill>
                  <a:srgbClr val="86868B"/>
                </a:solidFill>
                <a:latin typeface="Arial" pitchFamily="34" charset="0"/>
                <a:ea typeface="Arial" pitchFamily="34" charset="-122"/>
                <a:cs typeface="Arial" pitchFamily="34" charset="-120"/>
              </a:rPr>
              <a:t>IBRAR</a:t>
            </a:r>
            <a:endParaRPr lang="en-US" sz="950" dirty="0"/>
          </a:p>
        </p:txBody>
      </p:sp>
      <p:sp>
        <p:nvSpPr>
          <p:cNvPr id="4" name="Text 1"/>
          <p:cNvSpPr/>
          <p:nvPr/>
        </p:nvSpPr>
        <p:spPr>
          <a:xfrm>
            <a:off x="841248" y="640080"/>
            <a:ext cx="7315200" cy="274320"/>
          </a:xfrm>
          <a:prstGeom prst="rect">
            <a:avLst/>
          </a:prstGeom>
          <a:noFill/>
          <a:ln/>
        </p:spPr>
        <p:txBody>
          <a:bodyPr wrap="square" lIns="0" tIns="0" rIns="0" bIns="0" rtlCol="0" anchor="ctr"/>
          <a:lstStyle/>
          <a:p>
            <a:pPr indent="0" marL="0">
              <a:buNone/>
            </a:pPr>
            <a:r>
              <a:rPr lang="en-US" sz="1100" b="1" spc="300" kern="0" dirty="0">
                <a:solidFill>
                  <a:srgbClr val="0071E3"/>
                </a:solidFill>
                <a:latin typeface="Arial" pitchFamily="34" charset="0"/>
                <a:ea typeface="Arial" pitchFamily="34" charset="-122"/>
                <a:cs typeface="Arial" pitchFamily="34" charset="-120"/>
              </a:rPr>
              <a:t>THE IDEA</a:t>
            </a:r>
            <a:endParaRPr lang="en-US" sz="1100" dirty="0"/>
          </a:p>
        </p:txBody>
      </p:sp>
      <p:sp>
        <p:nvSpPr>
          <p:cNvPr id="5" name="Text 2"/>
          <p:cNvSpPr/>
          <p:nvPr/>
        </p:nvSpPr>
        <p:spPr>
          <a:xfrm>
            <a:off x="841248" y="1143000"/>
            <a:ext cx="10058400" cy="731520"/>
          </a:xfrm>
          <a:prstGeom prst="rect">
            <a:avLst/>
          </a:prstGeom>
          <a:noFill/>
          <a:ln/>
        </p:spPr>
        <p:txBody>
          <a:bodyPr wrap="square" lIns="0" tIns="0" rIns="0" bIns="0" rtlCol="0" anchor="ctr"/>
          <a:lstStyle/>
          <a:p>
            <a:pPr indent="0" marL="0">
              <a:buNone/>
            </a:pPr>
            <a:r>
              <a:rPr lang="en-US" sz="3400" b="1" dirty="0">
                <a:solidFill>
                  <a:srgbClr val="1D1D1F"/>
                </a:solidFill>
                <a:latin typeface="Cambria" pitchFamily="34" charset="0"/>
                <a:ea typeface="Cambria" pitchFamily="34" charset="-122"/>
                <a:cs typeface="Cambria" pitchFamily="34" charset="-120"/>
              </a:rPr>
              <a:t>Three ways to cut text</a:t>
            </a:r>
            <a:endParaRPr lang="en-US" sz="3400" dirty="0"/>
          </a:p>
        </p:txBody>
      </p:sp>
      <p:sp>
        <p:nvSpPr>
          <p:cNvPr id="6" name="Shape 3"/>
          <p:cNvSpPr/>
          <p:nvPr/>
        </p:nvSpPr>
        <p:spPr>
          <a:xfrm>
            <a:off x="841248" y="2286000"/>
            <a:ext cx="3200400" cy="3017520"/>
          </a:xfrm>
          <a:prstGeom prst="roundRect">
            <a:avLst>
              <a:gd name="adj" fmla="val 2424"/>
            </a:avLst>
          </a:prstGeom>
          <a:solidFill>
            <a:srgbClr val="FFFFFF"/>
          </a:solidFill>
          <a:ln w="12700">
            <a:solidFill>
              <a:srgbClr val="D2D2D7"/>
            </a:solidFill>
            <a:prstDash val="solid"/>
          </a:ln>
        </p:spPr>
      </p:sp>
      <p:sp>
        <p:nvSpPr>
          <p:cNvPr id="7" name="Text 4"/>
          <p:cNvSpPr/>
          <p:nvPr/>
        </p:nvSpPr>
        <p:spPr>
          <a:xfrm>
            <a:off x="1115568" y="2560320"/>
            <a:ext cx="2651760" cy="457200"/>
          </a:xfrm>
          <a:prstGeom prst="rect">
            <a:avLst/>
          </a:prstGeom>
          <a:noFill/>
          <a:ln/>
        </p:spPr>
        <p:txBody>
          <a:bodyPr wrap="square" lIns="0" tIns="0" rIns="0" bIns="0" rtlCol="0" anchor="ctr"/>
          <a:lstStyle/>
          <a:p>
            <a:pPr indent="0" marL="0">
              <a:buNone/>
            </a:pPr>
            <a:r>
              <a:rPr lang="en-US" sz="1800" b="1" dirty="0">
                <a:solidFill>
                  <a:srgbClr val="1D1D1F"/>
                </a:solidFill>
                <a:latin typeface="Arial" pitchFamily="34" charset="0"/>
                <a:ea typeface="Arial" pitchFamily="34" charset="-122"/>
                <a:cs typeface="Arial" pitchFamily="34" charset="-120"/>
              </a:rPr>
              <a:t>Characters</a:t>
            </a:r>
            <a:endParaRPr lang="en-US" sz="1800" dirty="0"/>
          </a:p>
        </p:txBody>
      </p:sp>
      <p:sp>
        <p:nvSpPr>
          <p:cNvPr id="8" name="Text 5"/>
          <p:cNvSpPr/>
          <p:nvPr/>
        </p:nvSpPr>
        <p:spPr>
          <a:xfrm>
            <a:off x="1115568" y="3154680"/>
            <a:ext cx="2651760" cy="548640"/>
          </a:xfrm>
          <a:prstGeom prst="rect">
            <a:avLst/>
          </a:prstGeom>
          <a:noFill/>
          <a:ln/>
        </p:spPr>
        <p:txBody>
          <a:bodyPr wrap="square" lIns="0" tIns="0" rIns="0" bIns="0" rtlCol="0" anchor="ctr"/>
          <a:lstStyle/>
          <a:p>
            <a:pPr indent="0" marL="0">
              <a:buNone/>
            </a:pPr>
            <a:r>
              <a:rPr lang="en-US" sz="2000" i="1" dirty="0">
                <a:solidFill>
                  <a:srgbClr val="1D1D1F"/>
                </a:solidFill>
                <a:latin typeface="Cambria" pitchFamily="34" charset="0"/>
                <a:ea typeface="Cambria" pitchFamily="34" charset="-122"/>
                <a:cs typeface="Cambria" pitchFamily="34" charset="-120"/>
              </a:rPr>
              <a:t>T · h · e</a:t>
            </a:r>
            <a:endParaRPr lang="en-US" sz="2000" dirty="0"/>
          </a:p>
        </p:txBody>
      </p:sp>
      <p:sp>
        <p:nvSpPr>
          <p:cNvPr id="9" name="Text 6"/>
          <p:cNvSpPr/>
          <p:nvPr/>
        </p:nvSpPr>
        <p:spPr>
          <a:xfrm>
            <a:off x="1115568" y="3840480"/>
            <a:ext cx="2651760" cy="1280160"/>
          </a:xfrm>
          <a:prstGeom prst="rect">
            <a:avLst/>
          </a:prstGeom>
          <a:noFill/>
          <a:ln/>
        </p:spPr>
        <p:txBody>
          <a:bodyPr wrap="square" lIns="0" tIns="0" rIns="0" bIns="0" rtlCol="0" anchor="ctr"/>
          <a:lstStyle/>
          <a:p>
            <a:pPr indent="0" marL="0">
              <a:lnSpc>
                <a:spcPct val="130000"/>
              </a:lnSpc>
              <a:buNone/>
            </a:pPr>
            <a:r>
              <a:rPr lang="en-US" sz="1400" dirty="0">
                <a:solidFill>
                  <a:srgbClr val="86868B"/>
                </a:solidFill>
                <a:latin typeface="Arial" pitchFamily="34" charset="0"/>
                <a:ea typeface="Arial" pitchFamily="34" charset="-122"/>
                <a:cs typeface="Arial" pitchFamily="34" charset="-120"/>
              </a:rPr>
              <a:t>Never fails, but far too granular. Meaning is buried in detail.</a:t>
            </a:r>
            <a:endParaRPr lang="en-US" sz="1400" dirty="0"/>
          </a:p>
        </p:txBody>
      </p:sp>
      <p:sp>
        <p:nvSpPr>
          <p:cNvPr id="10" name="Shape 7"/>
          <p:cNvSpPr/>
          <p:nvPr/>
        </p:nvSpPr>
        <p:spPr>
          <a:xfrm>
            <a:off x="4544568" y="2286000"/>
            <a:ext cx="3200400" cy="3017520"/>
          </a:xfrm>
          <a:prstGeom prst="roundRect">
            <a:avLst>
              <a:gd name="adj" fmla="val 2424"/>
            </a:avLst>
          </a:prstGeom>
          <a:solidFill>
            <a:srgbClr val="FFFFFF"/>
          </a:solidFill>
          <a:ln w="12700">
            <a:solidFill>
              <a:srgbClr val="D2D2D7"/>
            </a:solidFill>
            <a:prstDash val="solid"/>
          </a:ln>
        </p:spPr>
      </p:sp>
      <p:sp>
        <p:nvSpPr>
          <p:cNvPr id="11" name="Text 8"/>
          <p:cNvSpPr/>
          <p:nvPr/>
        </p:nvSpPr>
        <p:spPr>
          <a:xfrm>
            <a:off x="4818888" y="2560320"/>
            <a:ext cx="2651760" cy="457200"/>
          </a:xfrm>
          <a:prstGeom prst="rect">
            <a:avLst/>
          </a:prstGeom>
          <a:noFill/>
          <a:ln/>
        </p:spPr>
        <p:txBody>
          <a:bodyPr wrap="square" lIns="0" tIns="0" rIns="0" bIns="0" rtlCol="0" anchor="ctr"/>
          <a:lstStyle/>
          <a:p>
            <a:pPr indent="0" marL="0">
              <a:buNone/>
            </a:pPr>
            <a:r>
              <a:rPr lang="en-US" sz="1800" b="1" dirty="0">
                <a:solidFill>
                  <a:srgbClr val="1D1D1F"/>
                </a:solidFill>
                <a:latin typeface="Arial" pitchFamily="34" charset="0"/>
                <a:ea typeface="Arial" pitchFamily="34" charset="-122"/>
                <a:cs typeface="Arial" pitchFamily="34" charset="-120"/>
              </a:rPr>
              <a:t>Words</a:t>
            </a:r>
            <a:endParaRPr lang="en-US" sz="1800" dirty="0"/>
          </a:p>
        </p:txBody>
      </p:sp>
      <p:sp>
        <p:nvSpPr>
          <p:cNvPr id="12" name="Text 9"/>
          <p:cNvSpPr/>
          <p:nvPr/>
        </p:nvSpPr>
        <p:spPr>
          <a:xfrm>
            <a:off x="4818888" y="3154680"/>
            <a:ext cx="2651760" cy="548640"/>
          </a:xfrm>
          <a:prstGeom prst="rect">
            <a:avLst/>
          </a:prstGeom>
          <a:noFill/>
          <a:ln/>
        </p:spPr>
        <p:txBody>
          <a:bodyPr wrap="square" lIns="0" tIns="0" rIns="0" bIns="0" rtlCol="0" anchor="ctr"/>
          <a:lstStyle/>
          <a:p>
            <a:pPr indent="0" marL="0">
              <a:buNone/>
            </a:pPr>
            <a:r>
              <a:rPr lang="en-US" sz="2000" i="1" dirty="0">
                <a:solidFill>
                  <a:srgbClr val="1D1D1F"/>
                </a:solidFill>
                <a:latin typeface="Cambria" pitchFamily="34" charset="0"/>
                <a:ea typeface="Cambria" pitchFamily="34" charset="-122"/>
                <a:cs typeface="Cambria" pitchFamily="34" charset="-120"/>
              </a:rPr>
              <a:t>running</a:t>
            </a:r>
            <a:endParaRPr lang="en-US" sz="2000" dirty="0"/>
          </a:p>
        </p:txBody>
      </p:sp>
      <p:sp>
        <p:nvSpPr>
          <p:cNvPr id="13" name="Text 10"/>
          <p:cNvSpPr/>
          <p:nvPr/>
        </p:nvSpPr>
        <p:spPr>
          <a:xfrm>
            <a:off x="4818888" y="3840480"/>
            <a:ext cx="2651760" cy="1280160"/>
          </a:xfrm>
          <a:prstGeom prst="rect">
            <a:avLst/>
          </a:prstGeom>
          <a:noFill/>
          <a:ln/>
        </p:spPr>
        <p:txBody>
          <a:bodyPr wrap="square" lIns="0" tIns="0" rIns="0" bIns="0" rtlCol="0" anchor="ctr"/>
          <a:lstStyle/>
          <a:p>
            <a:pPr indent="0" marL="0">
              <a:lnSpc>
                <a:spcPct val="130000"/>
              </a:lnSpc>
              <a:buNone/>
            </a:pPr>
            <a:r>
              <a:rPr lang="en-US" sz="1400" dirty="0">
                <a:solidFill>
                  <a:srgbClr val="86868B"/>
                </a:solidFill>
                <a:latin typeface="Arial" pitchFamily="34" charset="0"/>
                <a:ea typeface="Arial" pitchFamily="34" charset="-122"/>
                <a:cs typeface="Arial" pitchFamily="34" charset="-120"/>
              </a:rPr>
              <a:t>Intuitive, but language is infinite. Unknown words break it.</a:t>
            </a:r>
            <a:endParaRPr lang="en-US" sz="1400" dirty="0"/>
          </a:p>
        </p:txBody>
      </p:sp>
      <p:sp>
        <p:nvSpPr>
          <p:cNvPr id="14" name="Shape 11"/>
          <p:cNvSpPr/>
          <p:nvPr/>
        </p:nvSpPr>
        <p:spPr>
          <a:xfrm>
            <a:off x="8247888" y="2286000"/>
            <a:ext cx="3200400" cy="3017520"/>
          </a:xfrm>
          <a:prstGeom prst="roundRect">
            <a:avLst>
              <a:gd name="adj" fmla="val 2424"/>
            </a:avLst>
          </a:prstGeom>
          <a:solidFill>
            <a:srgbClr val="F0F6FE"/>
          </a:solidFill>
          <a:ln w="19050">
            <a:solidFill>
              <a:srgbClr val="0071E3"/>
            </a:solidFill>
            <a:prstDash val="solid"/>
          </a:ln>
        </p:spPr>
      </p:sp>
      <p:sp>
        <p:nvSpPr>
          <p:cNvPr id="15" name="Text 12"/>
          <p:cNvSpPr/>
          <p:nvPr/>
        </p:nvSpPr>
        <p:spPr>
          <a:xfrm>
            <a:off x="8522208" y="2560320"/>
            <a:ext cx="2651760" cy="457200"/>
          </a:xfrm>
          <a:prstGeom prst="rect">
            <a:avLst/>
          </a:prstGeom>
          <a:noFill/>
          <a:ln/>
        </p:spPr>
        <p:txBody>
          <a:bodyPr wrap="square" lIns="0" tIns="0" rIns="0" bIns="0" rtlCol="0" anchor="ctr"/>
          <a:lstStyle/>
          <a:p>
            <a:pPr indent="0" marL="0">
              <a:buNone/>
            </a:pPr>
            <a:r>
              <a:rPr lang="en-US" sz="1800" b="1" dirty="0">
                <a:solidFill>
                  <a:srgbClr val="0071E3"/>
                </a:solidFill>
                <a:latin typeface="Arial" pitchFamily="34" charset="0"/>
                <a:ea typeface="Arial" pitchFamily="34" charset="-122"/>
                <a:cs typeface="Arial" pitchFamily="34" charset="-120"/>
              </a:rPr>
              <a:t>Subwords</a:t>
            </a:r>
            <a:endParaRPr lang="en-US" sz="1800" dirty="0"/>
          </a:p>
        </p:txBody>
      </p:sp>
      <p:sp>
        <p:nvSpPr>
          <p:cNvPr id="16" name="Text 13"/>
          <p:cNvSpPr/>
          <p:nvPr/>
        </p:nvSpPr>
        <p:spPr>
          <a:xfrm>
            <a:off x="8522208" y="3154680"/>
            <a:ext cx="2651760" cy="548640"/>
          </a:xfrm>
          <a:prstGeom prst="rect">
            <a:avLst/>
          </a:prstGeom>
          <a:noFill/>
          <a:ln/>
        </p:spPr>
        <p:txBody>
          <a:bodyPr wrap="square" lIns="0" tIns="0" rIns="0" bIns="0" rtlCol="0" anchor="ctr"/>
          <a:lstStyle/>
          <a:p>
            <a:pPr indent="0" marL="0">
              <a:buNone/>
            </a:pPr>
            <a:r>
              <a:rPr lang="en-US" sz="2000" i="1" dirty="0">
                <a:solidFill>
                  <a:srgbClr val="1D1D1F"/>
                </a:solidFill>
                <a:latin typeface="Cambria" pitchFamily="34" charset="0"/>
                <a:ea typeface="Cambria" pitchFamily="34" charset="-122"/>
                <a:cs typeface="Cambria" pitchFamily="34" charset="-120"/>
              </a:rPr>
              <a:t>un · break · ability</a:t>
            </a:r>
            <a:endParaRPr lang="en-US" sz="2000" dirty="0"/>
          </a:p>
        </p:txBody>
      </p:sp>
      <p:sp>
        <p:nvSpPr>
          <p:cNvPr id="17" name="Text 14"/>
          <p:cNvSpPr/>
          <p:nvPr/>
        </p:nvSpPr>
        <p:spPr>
          <a:xfrm>
            <a:off x="8522208" y="3840480"/>
            <a:ext cx="2651760" cy="1280160"/>
          </a:xfrm>
          <a:prstGeom prst="rect">
            <a:avLst/>
          </a:prstGeom>
          <a:noFill/>
          <a:ln/>
        </p:spPr>
        <p:txBody>
          <a:bodyPr wrap="square" lIns="0" tIns="0" rIns="0" bIns="0" rtlCol="0" anchor="ctr"/>
          <a:lstStyle/>
          <a:p>
            <a:pPr indent="0" marL="0">
              <a:lnSpc>
                <a:spcPct val="130000"/>
              </a:lnSpc>
              <a:buNone/>
            </a:pPr>
            <a:r>
              <a:rPr lang="en-US" sz="1400" dirty="0">
                <a:solidFill>
                  <a:srgbClr val="86868B"/>
                </a:solidFill>
                <a:latin typeface="Arial" pitchFamily="34" charset="0"/>
                <a:ea typeface="Arial" pitchFamily="34" charset="-122"/>
                <a:cs typeface="Arial" pitchFamily="34" charset="-120"/>
              </a:rPr>
              <a:t>The Goldilocks zone. Reusable pieces that never run out.</a:t>
            </a:r>
            <a:endParaRPr lang="en-US" sz="1400" dirty="0"/>
          </a:p>
        </p:txBody>
      </p:sp>
      <p:sp>
        <p:nvSpPr>
          <p:cNvPr id="18" name="Text 15"/>
          <p:cNvSpPr/>
          <p:nvPr/>
        </p:nvSpPr>
        <p:spPr>
          <a:xfrm>
            <a:off x="11155680" y="6355080"/>
            <a:ext cx="457200" cy="274320"/>
          </a:xfrm>
          <a:prstGeom prst="rect">
            <a:avLst/>
          </a:prstGeom>
          <a:noFill/>
          <a:ln/>
        </p:spPr>
        <p:txBody>
          <a:bodyPr wrap="square" lIns="0" tIns="0" rIns="0" bIns="0" rtlCol="0" anchor="ctr"/>
          <a:lstStyle/>
          <a:p>
            <a:pPr algn="r" indent="0" marL="0">
              <a:buNone/>
            </a:pPr>
            <a:r>
              <a:rPr lang="en-US" sz="1000" dirty="0">
                <a:solidFill>
                  <a:srgbClr val="D2D2D7"/>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D"/>
        </a:solidFill>
      </p:bgPr>
    </p:bg>
    <p:spTree>
      <p:nvGrpSpPr>
        <p:cNvPr id="1" name=""/>
        <p:cNvGrpSpPr/>
        <p:nvPr/>
      </p:nvGrpSpPr>
      <p:grpSpPr>
        <a:xfrm>
          <a:off x="0" y="0"/>
          <a:ext cx="0" cy="0"/>
          <a:chOff x="0" y="0"/>
          <a:chExt cx="0" cy="0"/>
        </a:xfrm>
      </p:grpSpPr>
      <p:sp>
        <p:nvSpPr>
          <p:cNvPr id="3" name="Text 0"/>
          <p:cNvSpPr/>
          <p:nvPr/>
        </p:nvSpPr>
        <p:spPr>
          <a:xfrm>
            <a:off x="9235440" y="384048"/>
            <a:ext cx="2194560" cy="274320"/>
          </a:xfrm>
          <a:prstGeom prst="rect">
            <a:avLst/>
          </a:prstGeom>
          <a:noFill/>
          <a:ln/>
        </p:spPr>
        <p:txBody>
          <a:bodyPr wrap="square" lIns="0" tIns="0" rIns="0" bIns="0" rtlCol="0" anchor="ctr"/>
          <a:lstStyle/>
          <a:p>
            <a:pPr algn="r" indent="0" marL="0">
              <a:buNone/>
            </a:pPr>
            <a:r>
              <a:rPr lang="en-US" sz="950" spc="200" kern="0" dirty="0">
                <a:solidFill>
                  <a:srgbClr val="86868B"/>
                </a:solidFill>
                <a:latin typeface="Arial" pitchFamily="34" charset="0"/>
                <a:ea typeface="Arial" pitchFamily="34" charset="-122"/>
                <a:cs typeface="Arial" pitchFamily="34" charset="-120"/>
              </a:rPr>
              <a:t>IBRAR</a:t>
            </a:r>
            <a:endParaRPr lang="en-US" sz="950" dirty="0"/>
          </a:p>
        </p:txBody>
      </p:sp>
      <p:sp>
        <p:nvSpPr>
          <p:cNvPr id="4" name="Text 1"/>
          <p:cNvSpPr/>
          <p:nvPr/>
        </p:nvSpPr>
        <p:spPr>
          <a:xfrm>
            <a:off x="841248" y="640080"/>
            <a:ext cx="7315200" cy="274320"/>
          </a:xfrm>
          <a:prstGeom prst="rect">
            <a:avLst/>
          </a:prstGeom>
          <a:noFill/>
          <a:ln/>
        </p:spPr>
        <p:txBody>
          <a:bodyPr wrap="square" lIns="0" tIns="0" rIns="0" bIns="0" rtlCol="0" anchor="ctr"/>
          <a:lstStyle/>
          <a:p>
            <a:pPr indent="0" marL="0">
              <a:buNone/>
            </a:pPr>
            <a:r>
              <a:rPr lang="en-US" sz="1100" b="1" spc="300" kern="0" dirty="0">
                <a:solidFill>
                  <a:srgbClr val="0071E3"/>
                </a:solidFill>
                <a:latin typeface="Arial" pitchFamily="34" charset="0"/>
                <a:ea typeface="Arial" pitchFamily="34" charset="-122"/>
                <a:cs typeface="Arial" pitchFamily="34" charset="-120"/>
              </a:rPr>
              <a:t>HOW IT WORKS</a:t>
            </a:r>
            <a:endParaRPr lang="en-US" sz="1100" dirty="0"/>
          </a:p>
        </p:txBody>
      </p:sp>
      <p:sp>
        <p:nvSpPr>
          <p:cNvPr id="5" name="Text 2"/>
          <p:cNvSpPr/>
          <p:nvPr/>
        </p:nvSpPr>
        <p:spPr>
          <a:xfrm>
            <a:off x="841248" y="1188720"/>
            <a:ext cx="10058400" cy="731520"/>
          </a:xfrm>
          <a:prstGeom prst="rect">
            <a:avLst/>
          </a:prstGeom>
          <a:noFill/>
          <a:ln/>
        </p:spPr>
        <p:txBody>
          <a:bodyPr wrap="square" lIns="0" tIns="0" rIns="0" bIns="0" rtlCol="0" anchor="ctr"/>
          <a:lstStyle/>
          <a:p>
            <a:pPr indent="0" marL="0">
              <a:buNone/>
            </a:pPr>
            <a:r>
              <a:rPr lang="en-US" sz="3400" b="1" dirty="0">
                <a:solidFill>
                  <a:srgbClr val="1D1D1F"/>
                </a:solidFill>
                <a:latin typeface="Cambria" pitchFamily="34" charset="0"/>
                <a:ea typeface="Cambria" pitchFamily="34" charset="-122"/>
                <a:cs typeface="Cambria" pitchFamily="34" charset="-120"/>
              </a:rPr>
              <a:t>Two phases</a:t>
            </a:r>
            <a:endParaRPr lang="en-US" sz="3400" dirty="0"/>
          </a:p>
        </p:txBody>
      </p:sp>
      <p:sp>
        <p:nvSpPr>
          <p:cNvPr id="6" name="Text 3"/>
          <p:cNvSpPr/>
          <p:nvPr/>
        </p:nvSpPr>
        <p:spPr>
          <a:xfrm>
            <a:off x="841248" y="2377440"/>
            <a:ext cx="1097280" cy="1097280"/>
          </a:xfrm>
          <a:prstGeom prst="rect">
            <a:avLst/>
          </a:prstGeom>
          <a:noFill/>
          <a:ln/>
        </p:spPr>
        <p:txBody>
          <a:bodyPr wrap="square" lIns="0" tIns="0" rIns="0" bIns="0" rtlCol="0" anchor="ctr"/>
          <a:lstStyle/>
          <a:p>
            <a:pPr indent="0" marL="0">
              <a:buNone/>
            </a:pPr>
            <a:r>
              <a:rPr lang="en-US" sz="4000" b="1" dirty="0">
                <a:solidFill>
                  <a:srgbClr val="0071E3"/>
                </a:solidFill>
                <a:latin typeface="Cambria" pitchFamily="34" charset="0"/>
                <a:ea typeface="Cambria" pitchFamily="34" charset="-122"/>
                <a:cs typeface="Cambria" pitchFamily="34" charset="-120"/>
              </a:rPr>
              <a:t>01</a:t>
            </a:r>
            <a:endParaRPr lang="en-US" sz="4000" dirty="0"/>
          </a:p>
        </p:txBody>
      </p:sp>
      <p:sp>
        <p:nvSpPr>
          <p:cNvPr id="7" name="Text 4"/>
          <p:cNvSpPr/>
          <p:nvPr/>
        </p:nvSpPr>
        <p:spPr>
          <a:xfrm>
            <a:off x="2121408" y="2423160"/>
            <a:ext cx="8229600" cy="502920"/>
          </a:xfrm>
          <a:prstGeom prst="rect">
            <a:avLst/>
          </a:prstGeom>
          <a:noFill/>
          <a:ln/>
        </p:spPr>
        <p:txBody>
          <a:bodyPr wrap="square" lIns="0" tIns="0" rIns="0" bIns="0" rtlCol="0" anchor="ctr"/>
          <a:lstStyle/>
          <a:p>
            <a:pPr indent="0" marL="0">
              <a:buNone/>
            </a:pPr>
            <a:r>
              <a:rPr lang="en-US" sz="2100" b="1" dirty="0">
                <a:solidFill>
                  <a:srgbClr val="1D1D1F"/>
                </a:solidFill>
                <a:latin typeface="Arial" pitchFamily="34" charset="0"/>
                <a:ea typeface="Arial" pitchFamily="34" charset="-122"/>
                <a:cs typeface="Arial" pitchFamily="34" charset="-120"/>
              </a:rPr>
              <a:t>Training</a:t>
            </a:r>
            <a:endParaRPr lang="en-US" sz="2100" dirty="0"/>
          </a:p>
        </p:txBody>
      </p:sp>
      <p:sp>
        <p:nvSpPr>
          <p:cNvPr id="8" name="Text 5"/>
          <p:cNvSpPr/>
          <p:nvPr/>
        </p:nvSpPr>
        <p:spPr>
          <a:xfrm>
            <a:off x="2121408" y="2944368"/>
            <a:ext cx="8412480" cy="822960"/>
          </a:xfrm>
          <a:prstGeom prst="rect">
            <a:avLst/>
          </a:prstGeom>
          <a:noFill/>
          <a:ln/>
        </p:spPr>
        <p:txBody>
          <a:bodyPr wrap="square" lIns="0" tIns="0" rIns="0" bIns="0" rtlCol="0" anchor="ctr"/>
          <a:lstStyle/>
          <a:p>
            <a:pPr indent="0" marL="0">
              <a:lnSpc>
                <a:spcPct val="125000"/>
              </a:lnSpc>
              <a:buNone/>
            </a:pPr>
            <a:r>
              <a:rPr lang="en-US" sz="1500" dirty="0">
                <a:solidFill>
                  <a:srgbClr val="86868B"/>
                </a:solidFill>
                <a:latin typeface="Arial" pitchFamily="34" charset="0"/>
                <a:ea typeface="Arial" pitchFamily="34" charset="-122"/>
                <a:cs typeface="Arial" pitchFamily="34" charset="-120"/>
              </a:rPr>
              <a:t>Read a large corpus once and learn the vocabulary of pieces. Slow, done a single time.</a:t>
            </a:r>
            <a:endParaRPr lang="en-US" sz="1500" dirty="0"/>
          </a:p>
        </p:txBody>
      </p:sp>
      <p:sp>
        <p:nvSpPr>
          <p:cNvPr id="9" name="Text 6"/>
          <p:cNvSpPr/>
          <p:nvPr/>
        </p:nvSpPr>
        <p:spPr>
          <a:xfrm>
            <a:off x="841248" y="3931920"/>
            <a:ext cx="1097280" cy="1097280"/>
          </a:xfrm>
          <a:prstGeom prst="rect">
            <a:avLst/>
          </a:prstGeom>
          <a:noFill/>
          <a:ln/>
        </p:spPr>
        <p:txBody>
          <a:bodyPr wrap="square" lIns="0" tIns="0" rIns="0" bIns="0" rtlCol="0" anchor="ctr"/>
          <a:lstStyle/>
          <a:p>
            <a:pPr indent="0" marL="0">
              <a:buNone/>
            </a:pPr>
            <a:r>
              <a:rPr lang="en-US" sz="4000" b="1" dirty="0">
                <a:solidFill>
                  <a:srgbClr val="0071E3"/>
                </a:solidFill>
                <a:latin typeface="Cambria" pitchFamily="34" charset="0"/>
                <a:ea typeface="Cambria" pitchFamily="34" charset="-122"/>
                <a:cs typeface="Cambria" pitchFamily="34" charset="-120"/>
              </a:rPr>
              <a:t>02</a:t>
            </a:r>
            <a:endParaRPr lang="en-US" sz="4000" dirty="0"/>
          </a:p>
        </p:txBody>
      </p:sp>
      <p:sp>
        <p:nvSpPr>
          <p:cNvPr id="10" name="Text 7"/>
          <p:cNvSpPr/>
          <p:nvPr/>
        </p:nvSpPr>
        <p:spPr>
          <a:xfrm>
            <a:off x="2121408" y="3977640"/>
            <a:ext cx="8229600" cy="502920"/>
          </a:xfrm>
          <a:prstGeom prst="rect">
            <a:avLst/>
          </a:prstGeom>
          <a:noFill/>
          <a:ln/>
        </p:spPr>
        <p:txBody>
          <a:bodyPr wrap="square" lIns="0" tIns="0" rIns="0" bIns="0" rtlCol="0" anchor="ctr"/>
          <a:lstStyle/>
          <a:p>
            <a:pPr indent="0" marL="0">
              <a:buNone/>
            </a:pPr>
            <a:r>
              <a:rPr lang="en-US" sz="2100" b="1" dirty="0">
                <a:solidFill>
                  <a:srgbClr val="1D1D1F"/>
                </a:solidFill>
                <a:latin typeface="Arial" pitchFamily="34" charset="0"/>
                <a:ea typeface="Arial" pitchFamily="34" charset="-122"/>
                <a:cs typeface="Arial" pitchFamily="34" charset="-120"/>
              </a:rPr>
              <a:t>Tokenizing</a:t>
            </a:r>
            <a:endParaRPr lang="en-US" sz="2100" dirty="0"/>
          </a:p>
        </p:txBody>
      </p:sp>
      <p:sp>
        <p:nvSpPr>
          <p:cNvPr id="11" name="Text 8"/>
          <p:cNvSpPr/>
          <p:nvPr/>
        </p:nvSpPr>
        <p:spPr>
          <a:xfrm>
            <a:off x="2121408" y="4498848"/>
            <a:ext cx="8412480" cy="822960"/>
          </a:xfrm>
          <a:prstGeom prst="rect">
            <a:avLst/>
          </a:prstGeom>
          <a:noFill/>
          <a:ln/>
        </p:spPr>
        <p:txBody>
          <a:bodyPr wrap="square" lIns="0" tIns="0" rIns="0" bIns="0" rtlCol="0" anchor="ctr"/>
          <a:lstStyle/>
          <a:p>
            <a:pPr indent="0" marL="0">
              <a:lnSpc>
                <a:spcPct val="125000"/>
              </a:lnSpc>
              <a:buNone/>
            </a:pPr>
            <a:r>
              <a:rPr lang="en-US" sz="1500" dirty="0">
                <a:solidFill>
                  <a:srgbClr val="86868B"/>
                </a:solidFill>
                <a:latin typeface="Arial" pitchFamily="34" charset="0"/>
                <a:ea typeface="Arial" pitchFamily="34" charset="-122"/>
                <a:cs typeface="Arial" pitchFamily="34" charset="-120"/>
              </a:rPr>
              <a:t>Apply that vocabulary to new text, cutting each word into known pieces. Fast, runs constantly.</a:t>
            </a:r>
            <a:endParaRPr lang="en-US" sz="1500" dirty="0"/>
          </a:p>
        </p:txBody>
      </p:sp>
      <p:sp>
        <p:nvSpPr>
          <p:cNvPr id="12" name="Text 9"/>
          <p:cNvSpPr/>
          <p:nvPr/>
        </p:nvSpPr>
        <p:spPr>
          <a:xfrm>
            <a:off x="11155680" y="6355080"/>
            <a:ext cx="457200" cy="274320"/>
          </a:xfrm>
          <a:prstGeom prst="rect">
            <a:avLst/>
          </a:prstGeom>
          <a:noFill/>
          <a:ln/>
        </p:spPr>
        <p:txBody>
          <a:bodyPr wrap="square" lIns="0" tIns="0" rIns="0" bIns="0" rtlCol="0" anchor="ctr"/>
          <a:lstStyle/>
          <a:p>
            <a:pPr algn="r" indent="0" marL="0">
              <a:buNone/>
            </a:pPr>
            <a:r>
              <a:rPr lang="en-US" sz="1000" dirty="0">
                <a:solidFill>
                  <a:srgbClr val="D2D2D7"/>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D"/>
        </a:solidFill>
      </p:bgPr>
    </p:bg>
    <p:spTree>
      <p:nvGrpSpPr>
        <p:cNvPr id="1" name=""/>
        <p:cNvGrpSpPr/>
        <p:nvPr/>
      </p:nvGrpSpPr>
      <p:grpSpPr>
        <a:xfrm>
          <a:off x="0" y="0"/>
          <a:ext cx="0" cy="0"/>
          <a:chOff x="0" y="0"/>
          <a:chExt cx="0" cy="0"/>
        </a:xfrm>
      </p:grpSpPr>
      <p:sp>
        <p:nvSpPr>
          <p:cNvPr id="3" name="Text 0"/>
          <p:cNvSpPr/>
          <p:nvPr/>
        </p:nvSpPr>
        <p:spPr>
          <a:xfrm>
            <a:off x="9235440" y="384048"/>
            <a:ext cx="2194560" cy="274320"/>
          </a:xfrm>
          <a:prstGeom prst="rect">
            <a:avLst/>
          </a:prstGeom>
          <a:noFill/>
          <a:ln/>
        </p:spPr>
        <p:txBody>
          <a:bodyPr wrap="square" lIns="0" tIns="0" rIns="0" bIns="0" rtlCol="0" anchor="ctr"/>
          <a:lstStyle/>
          <a:p>
            <a:pPr algn="r" indent="0" marL="0">
              <a:buNone/>
            </a:pPr>
            <a:r>
              <a:rPr lang="en-US" sz="950" spc="200" kern="0" dirty="0">
                <a:solidFill>
                  <a:srgbClr val="86868B"/>
                </a:solidFill>
                <a:latin typeface="Arial" pitchFamily="34" charset="0"/>
                <a:ea typeface="Arial" pitchFamily="34" charset="-122"/>
                <a:cs typeface="Arial" pitchFamily="34" charset="-120"/>
              </a:rPr>
              <a:t>IBRAR</a:t>
            </a:r>
            <a:endParaRPr lang="en-US" sz="950" dirty="0"/>
          </a:p>
        </p:txBody>
      </p:sp>
      <p:sp>
        <p:nvSpPr>
          <p:cNvPr id="4" name="Text 1"/>
          <p:cNvSpPr/>
          <p:nvPr/>
        </p:nvSpPr>
        <p:spPr>
          <a:xfrm>
            <a:off x="841248" y="640080"/>
            <a:ext cx="7315200" cy="274320"/>
          </a:xfrm>
          <a:prstGeom prst="rect">
            <a:avLst/>
          </a:prstGeom>
          <a:noFill/>
          <a:ln/>
        </p:spPr>
        <p:txBody>
          <a:bodyPr wrap="square" lIns="0" tIns="0" rIns="0" bIns="0" rtlCol="0" anchor="ctr"/>
          <a:lstStyle/>
          <a:p>
            <a:pPr indent="0" marL="0">
              <a:buNone/>
            </a:pPr>
            <a:r>
              <a:rPr lang="en-US" sz="1100" b="1" spc="300" kern="0" dirty="0">
                <a:solidFill>
                  <a:srgbClr val="0071E3"/>
                </a:solidFill>
                <a:latin typeface="Arial" pitchFamily="34" charset="0"/>
                <a:ea typeface="Arial" pitchFamily="34" charset="-122"/>
                <a:cs typeface="Arial" pitchFamily="34" charset="-120"/>
              </a:rPr>
              <a:t>ALGORITHM ONE</a:t>
            </a:r>
            <a:endParaRPr lang="en-US" sz="1100" dirty="0"/>
          </a:p>
        </p:txBody>
      </p:sp>
      <p:sp>
        <p:nvSpPr>
          <p:cNvPr id="5" name="Text 2"/>
          <p:cNvSpPr/>
          <p:nvPr/>
        </p:nvSpPr>
        <p:spPr>
          <a:xfrm>
            <a:off x="841248" y="1097280"/>
            <a:ext cx="5486400" cy="914400"/>
          </a:xfrm>
          <a:prstGeom prst="rect">
            <a:avLst/>
          </a:prstGeom>
          <a:noFill/>
          <a:ln/>
        </p:spPr>
        <p:txBody>
          <a:bodyPr wrap="square" lIns="0" tIns="0" rIns="0" bIns="0" rtlCol="0" anchor="ctr"/>
          <a:lstStyle/>
          <a:p>
            <a:pPr indent="0" marL="0">
              <a:buNone/>
            </a:pPr>
            <a:r>
              <a:rPr lang="en-US" sz="5000" b="1" dirty="0">
                <a:solidFill>
                  <a:srgbClr val="1D1D1F"/>
                </a:solidFill>
                <a:latin typeface="Cambria" pitchFamily="34" charset="0"/>
                <a:ea typeface="Cambria" pitchFamily="34" charset="-122"/>
                <a:cs typeface="Cambria" pitchFamily="34" charset="-120"/>
              </a:rPr>
              <a:t>BPE</a:t>
            </a:r>
            <a:endParaRPr lang="en-US" sz="5000" dirty="0"/>
          </a:p>
        </p:txBody>
      </p:sp>
      <p:sp>
        <p:nvSpPr>
          <p:cNvPr id="6" name="Text 3"/>
          <p:cNvSpPr/>
          <p:nvPr/>
        </p:nvSpPr>
        <p:spPr>
          <a:xfrm>
            <a:off x="841248" y="2057400"/>
            <a:ext cx="7315200" cy="365760"/>
          </a:xfrm>
          <a:prstGeom prst="rect">
            <a:avLst/>
          </a:prstGeom>
          <a:noFill/>
          <a:ln/>
        </p:spPr>
        <p:txBody>
          <a:bodyPr wrap="square" lIns="0" tIns="0" rIns="0" bIns="0" rtlCol="0" anchor="ctr"/>
          <a:lstStyle/>
          <a:p>
            <a:pPr indent="0" marL="0">
              <a:buNone/>
            </a:pPr>
            <a:r>
              <a:rPr lang="en-US" sz="1400" dirty="0">
                <a:solidFill>
                  <a:srgbClr val="86868B"/>
                </a:solidFill>
                <a:latin typeface="Arial" pitchFamily="34" charset="0"/>
                <a:ea typeface="Arial" pitchFamily="34" charset="-122"/>
                <a:cs typeface="Arial" pitchFamily="34" charset="-120"/>
              </a:rPr>
              <a:t>Byte Pair Encoding — used by GPT, RoBERTa</a:t>
            </a:r>
            <a:endParaRPr lang="en-US" sz="1400" dirty="0"/>
          </a:p>
        </p:txBody>
      </p:sp>
      <p:sp>
        <p:nvSpPr>
          <p:cNvPr id="7" name="Shape 4"/>
          <p:cNvSpPr/>
          <p:nvPr/>
        </p:nvSpPr>
        <p:spPr>
          <a:xfrm>
            <a:off x="841248" y="2743200"/>
            <a:ext cx="10515600" cy="914400"/>
          </a:xfrm>
          <a:prstGeom prst="roundRect">
            <a:avLst>
              <a:gd name="adj" fmla="val 8000"/>
            </a:avLst>
          </a:prstGeom>
          <a:solidFill>
            <a:srgbClr val="FFFFFF"/>
          </a:solidFill>
          <a:ln w="12700">
            <a:solidFill>
              <a:srgbClr val="D2D2D7"/>
            </a:solidFill>
            <a:prstDash val="solid"/>
          </a:ln>
        </p:spPr>
      </p:sp>
      <p:sp>
        <p:nvSpPr>
          <p:cNvPr id="8" name="Text 5"/>
          <p:cNvSpPr/>
          <p:nvPr/>
        </p:nvSpPr>
        <p:spPr>
          <a:xfrm>
            <a:off x="1207008" y="2743200"/>
            <a:ext cx="9784080" cy="914400"/>
          </a:xfrm>
          <a:prstGeom prst="rect">
            <a:avLst/>
          </a:prstGeom>
          <a:noFill/>
          <a:ln/>
        </p:spPr>
        <p:txBody>
          <a:bodyPr wrap="square" lIns="0" tIns="0" rIns="0" bIns="0" rtlCol="0" anchor="ctr"/>
          <a:lstStyle/>
          <a:p>
            <a:pPr indent="0" marL="0">
              <a:buNone/>
            </a:pPr>
            <a:r>
              <a:rPr lang="en-US" sz="2000" dirty="0">
                <a:solidFill>
                  <a:srgbClr val="86868B"/>
                </a:solidFill>
                <a:latin typeface="Arial" pitchFamily="34" charset="0"/>
                <a:ea typeface="Arial" pitchFamily="34" charset="-122"/>
                <a:cs typeface="Arial" pitchFamily="34" charset="-120"/>
              </a:rPr>
              <a:t>The rule:  </a:t>
            </a:r>
            <a:pPr indent="0" marL="0">
              <a:buNone/>
            </a:pPr>
            <a:r>
              <a:rPr lang="en-US" sz="2000" b="1" dirty="0">
                <a:solidFill>
                  <a:srgbClr val="1D1D1F"/>
                </a:solidFill>
                <a:latin typeface="Arial" pitchFamily="34" charset="0"/>
                <a:ea typeface="Arial" pitchFamily="34" charset="-122"/>
                <a:cs typeface="Arial" pitchFamily="34" charset="-120"/>
              </a:rPr>
              <a:t>merge the most frequent adjacent pair.</a:t>
            </a:r>
            <a:endParaRPr lang="en-US" sz="2000" dirty="0"/>
          </a:p>
        </p:txBody>
      </p:sp>
      <p:sp>
        <p:nvSpPr>
          <p:cNvPr id="9" name="Text 6"/>
          <p:cNvSpPr/>
          <p:nvPr/>
        </p:nvSpPr>
        <p:spPr>
          <a:xfrm>
            <a:off x="841248" y="4114800"/>
            <a:ext cx="10058400" cy="640080"/>
          </a:xfrm>
          <a:prstGeom prst="rect">
            <a:avLst/>
          </a:prstGeom>
          <a:noFill/>
          <a:ln/>
        </p:spPr>
        <p:txBody>
          <a:bodyPr wrap="square" lIns="0" tIns="0" rIns="0" bIns="0" rtlCol="0" anchor="ctr"/>
          <a:lstStyle/>
          <a:p>
            <a:pPr indent="0" marL="0">
              <a:buNone/>
            </a:pPr>
            <a:r>
              <a:rPr lang="en-US" sz="2600" i="1" dirty="0">
                <a:solidFill>
                  <a:srgbClr val="0071E3"/>
                </a:solidFill>
                <a:latin typeface="Cambria" pitchFamily="34" charset="0"/>
                <a:ea typeface="Cambria" pitchFamily="34" charset="-122"/>
                <a:cs typeface="Cambria" pitchFamily="34" charset="-120"/>
              </a:rPr>
              <a:t>e · s   →   es        es · t   →   est</a:t>
            </a:r>
            <a:endParaRPr lang="en-US" sz="2600" dirty="0"/>
          </a:p>
        </p:txBody>
      </p:sp>
      <p:sp>
        <p:nvSpPr>
          <p:cNvPr id="10" name="Text 7"/>
          <p:cNvSpPr/>
          <p:nvPr/>
        </p:nvSpPr>
        <p:spPr>
          <a:xfrm>
            <a:off x="841248" y="4983480"/>
            <a:ext cx="10058400" cy="640080"/>
          </a:xfrm>
          <a:prstGeom prst="rect">
            <a:avLst/>
          </a:prstGeom>
          <a:noFill/>
          <a:ln/>
        </p:spPr>
        <p:txBody>
          <a:bodyPr wrap="square" lIns="0" tIns="0" rIns="0" bIns="0" rtlCol="0" anchor="ctr"/>
          <a:lstStyle/>
          <a:p>
            <a:pPr indent="0" marL="0">
              <a:lnSpc>
                <a:spcPct val="125000"/>
              </a:lnSpc>
              <a:buNone/>
            </a:pPr>
            <a:r>
              <a:rPr lang="en-US" sz="1600" dirty="0">
                <a:solidFill>
                  <a:srgbClr val="86868B"/>
                </a:solidFill>
                <a:latin typeface="Arial" pitchFamily="34" charset="0"/>
                <a:ea typeface="Arial" pitchFamily="34" charset="-122"/>
                <a:cs typeface="Arial" pitchFamily="34" charset="-120"/>
              </a:rPr>
              <a:t>Step by step, common pairs grow into longer, reusable pieces. The order of merges is saved.</a:t>
            </a:r>
            <a:endParaRPr lang="en-US" sz="1600" dirty="0"/>
          </a:p>
        </p:txBody>
      </p:sp>
      <p:sp>
        <p:nvSpPr>
          <p:cNvPr id="11" name="Text 8"/>
          <p:cNvSpPr/>
          <p:nvPr/>
        </p:nvSpPr>
        <p:spPr>
          <a:xfrm>
            <a:off x="11155680" y="6355080"/>
            <a:ext cx="457200" cy="274320"/>
          </a:xfrm>
          <a:prstGeom prst="rect">
            <a:avLst/>
          </a:prstGeom>
          <a:noFill/>
          <a:ln/>
        </p:spPr>
        <p:txBody>
          <a:bodyPr wrap="square" lIns="0" tIns="0" rIns="0" bIns="0" rtlCol="0" anchor="ctr"/>
          <a:lstStyle/>
          <a:p>
            <a:pPr algn="r" indent="0" marL="0">
              <a:buNone/>
            </a:pPr>
            <a:r>
              <a:rPr lang="en-US" sz="1000" dirty="0">
                <a:solidFill>
                  <a:srgbClr val="D2D2D7"/>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BFD"/>
        </a:solidFill>
      </p:bgPr>
    </p:bg>
    <p:spTree>
      <p:nvGrpSpPr>
        <p:cNvPr id="1" name=""/>
        <p:cNvGrpSpPr/>
        <p:nvPr/>
      </p:nvGrpSpPr>
      <p:grpSpPr>
        <a:xfrm>
          <a:off x="0" y="0"/>
          <a:ext cx="0" cy="0"/>
          <a:chOff x="0" y="0"/>
          <a:chExt cx="0" cy="0"/>
        </a:xfrm>
      </p:grpSpPr>
      <p:sp>
        <p:nvSpPr>
          <p:cNvPr id="3" name="Text 0"/>
          <p:cNvSpPr/>
          <p:nvPr/>
        </p:nvSpPr>
        <p:spPr>
          <a:xfrm>
            <a:off x="9235440" y="384048"/>
            <a:ext cx="2194560" cy="274320"/>
          </a:xfrm>
          <a:prstGeom prst="rect">
            <a:avLst/>
          </a:prstGeom>
          <a:noFill/>
          <a:ln/>
        </p:spPr>
        <p:txBody>
          <a:bodyPr wrap="square" lIns="0" tIns="0" rIns="0" bIns="0" rtlCol="0" anchor="ctr"/>
          <a:lstStyle/>
          <a:p>
            <a:pPr algn="r" indent="0" marL="0">
              <a:buNone/>
            </a:pPr>
            <a:r>
              <a:rPr lang="en-US" sz="950" spc="200" kern="0" dirty="0">
                <a:solidFill>
                  <a:srgbClr val="86868B"/>
                </a:solidFill>
                <a:latin typeface="Arial" pitchFamily="34" charset="0"/>
                <a:ea typeface="Arial" pitchFamily="34" charset="-122"/>
                <a:cs typeface="Arial" pitchFamily="34" charset="-120"/>
              </a:rPr>
              <a:t>IBRAR</a:t>
            </a:r>
            <a:endParaRPr lang="en-US" sz="950" dirty="0"/>
          </a:p>
        </p:txBody>
      </p:sp>
      <p:sp>
        <p:nvSpPr>
          <p:cNvPr id="4" name="Text 1"/>
          <p:cNvSpPr/>
          <p:nvPr/>
        </p:nvSpPr>
        <p:spPr>
          <a:xfrm>
            <a:off x="841248" y="640080"/>
            <a:ext cx="7315200" cy="274320"/>
          </a:xfrm>
          <a:prstGeom prst="rect">
            <a:avLst/>
          </a:prstGeom>
          <a:noFill/>
          <a:ln/>
        </p:spPr>
        <p:txBody>
          <a:bodyPr wrap="square" lIns="0" tIns="0" rIns="0" bIns="0" rtlCol="0" anchor="ctr"/>
          <a:lstStyle/>
          <a:p>
            <a:pPr indent="0" marL="0">
              <a:buNone/>
            </a:pPr>
            <a:r>
              <a:rPr lang="en-US" sz="1100" b="1" spc="300" kern="0" dirty="0">
                <a:solidFill>
                  <a:srgbClr val="0071E3"/>
                </a:solidFill>
                <a:latin typeface="Arial" pitchFamily="34" charset="0"/>
                <a:ea typeface="Arial" pitchFamily="34" charset="-122"/>
                <a:cs typeface="Arial" pitchFamily="34" charset="-120"/>
              </a:rPr>
              <a:t>ALGORITHM TWO</a:t>
            </a:r>
            <a:endParaRPr lang="en-US" sz="1100" dirty="0"/>
          </a:p>
        </p:txBody>
      </p:sp>
      <p:sp>
        <p:nvSpPr>
          <p:cNvPr id="5" name="Text 2"/>
          <p:cNvSpPr/>
          <p:nvPr/>
        </p:nvSpPr>
        <p:spPr>
          <a:xfrm>
            <a:off x="841248" y="1097280"/>
            <a:ext cx="8229600" cy="914400"/>
          </a:xfrm>
          <a:prstGeom prst="rect">
            <a:avLst/>
          </a:prstGeom>
          <a:noFill/>
          <a:ln/>
        </p:spPr>
        <p:txBody>
          <a:bodyPr wrap="square" lIns="0" tIns="0" rIns="0" bIns="0" rtlCol="0" anchor="ctr"/>
          <a:lstStyle/>
          <a:p>
            <a:pPr indent="0" marL="0">
              <a:buNone/>
            </a:pPr>
            <a:r>
              <a:rPr lang="en-US" sz="5000" b="1" dirty="0">
                <a:solidFill>
                  <a:srgbClr val="1D1D1F"/>
                </a:solidFill>
                <a:latin typeface="Cambria" pitchFamily="34" charset="0"/>
                <a:ea typeface="Cambria" pitchFamily="34" charset="-122"/>
                <a:cs typeface="Cambria" pitchFamily="34" charset="-120"/>
              </a:rPr>
              <a:t>WordPiece</a:t>
            </a:r>
            <a:endParaRPr lang="en-US" sz="5000" dirty="0"/>
          </a:p>
        </p:txBody>
      </p:sp>
      <p:sp>
        <p:nvSpPr>
          <p:cNvPr id="6" name="Text 3"/>
          <p:cNvSpPr/>
          <p:nvPr/>
        </p:nvSpPr>
        <p:spPr>
          <a:xfrm>
            <a:off x="841248" y="2057400"/>
            <a:ext cx="7315200" cy="365760"/>
          </a:xfrm>
          <a:prstGeom prst="rect">
            <a:avLst/>
          </a:prstGeom>
          <a:noFill/>
          <a:ln/>
        </p:spPr>
        <p:txBody>
          <a:bodyPr wrap="square" lIns="0" tIns="0" rIns="0" bIns="0" rtlCol="0" anchor="ctr"/>
          <a:lstStyle/>
          <a:p>
            <a:pPr indent="0" marL="0">
              <a:buNone/>
            </a:pPr>
            <a:r>
              <a:rPr lang="en-US" sz="1400" dirty="0">
                <a:solidFill>
                  <a:srgbClr val="86868B"/>
                </a:solidFill>
                <a:latin typeface="Arial" pitchFamily="34" charset="0"/>
                <a:ea typeface="Arial" pitchFamily="34" charset="-122"/>
                <a:cs typeface="Arial" pitchFamily="34" charset="-120"/>
              </a:rPr>
              <a:t>Used by BERT, DistilBERT</a:t>
            </a:r>
            <a:endParaRPr lang="en-US" sz="1400" dirty="0"/>
          </a:p>
        </p:txBody>
      </p:sp>
      <p:sp>
        <p:nvSpPr>
          <p:cNvPr id="7" name="Shape 4"/>
          <p:cNvSpPr/>
          <p:nvPr/>
        </p:nvSpPr>
        <p:spPr>
          <a:xfrm>
            <a:off x="841248" y="2743200"/>
            <a:ext cx="10515600" cy="1051560"/>
          </a:xfrm>
          <a:prstGeom prst="roundRect">
            <a:avLst>
              <a:gd name="adj" fmla="val 6957"/>
            </a:avLst>
          </a:prstGeom>
          <a:solidFill>
            <a:srgbClr val="F0F6FE"/>
          </a:solidFill>
          <a:ln w="19050">
            <a:solidFill>
              <a:srgbClr val="0071E3"/>
            </a:solidFill>
            <a:prstDash val="solid"/>
          </a:ln>
        </p:spPr>
      </p:sp>
      <p:sp>
        <p:nvSpPr>
          <p:cNvPr id="8" name="Text 5"/>
          <p:cNvSpPr/>
          <p:nvPr/>
        </p:nvSpPr>
        <p:spPr>
          <a:xfrm>
            <a:off x="841248" y="2743200"/>
            <a:ext cx="10515600" cy="1051560"/>
          </a:xfrm>
          <a:prstGeom prst="rect">
            <a:avLst/>
          </a:prstGeom>
          <a:noFill/>
          <a:ln/>
        </p:spPr>
        <p:txBody>
          <a:bodyPr wrap="square" lIns="0" tIns="0" rIns="0" bIns="0" rtlCol="0" anchor="ctr"/>
          <a:lstStyle/>
          <a:p>
            <a:pPr algn="ctr" indent="0" marL="0">
              <a:buNone/>
            </a:pPr>
            <a:r>
              <a:rPr lang="en-US" sz="2600" b="1" dirty="0">
                <a:solidFill>
                  <a:srgbClr val="1D1D1F"/>
                </a:solidFill>
                <a:latin typeface="Cambria" pitchFamily="34" charset="0"/>
                <a:ea typeface="Cambria" pitchFamily="34" charset="-122"/>
                <a:cs typeface="Cambria" pitchFamily="34" charset="-120"/>
              </a:rPr>
              <a:t>score  =  freq(AB)  /  ( freq(A) × freq(B) )</a:t>
            </a:r>
            <a:endParaRPr lang="en-US" sz="2600" dirty="0"/>
          </a:p>
        </p:txBody>
      </p:sp>
      <p:sp>
        <p:nvSpPr>
          <p:cNvPr id="9" name="Text 6"/>
          <p:cNvSpPr/>
          <p:nvPr/>
        </p:nvSpPr>
        <p:spPr>
          <a:xfrm>
            <a:off x="841248" y="4251960"/>
            <a:ext cx="10241280" cy="914400"/>
          </a:xfrm>
          <a:prstGeom prst="rect">
            <a:avLst/>
          </a:prstGeom>
          <a:noFill/>
          <a:ln/>
        </p:spPr>
        <p:txBody>
          <a:bodyPr wrap="square" lIns="0" tIns="0" rIns="0" bIns="0" rtlCol="0" anchor="ctr"/>
          <a:lstStyle/>
          <a:p>
            <a:pPr indent="0" marL="0">
              <a:lnSpc>
                <a:spcPct val="130000"/>
              </a:lnSpc>
              <a:buNone/>
            </a:pPr>
            <a:r>
              <a:rPr lang="en-US" sz="1700" dirty="0">
                <a:solidFill>
                  <a:srgbClr val="86868B"/>
                </a:solidFill>
                <a:latin typeface="Arial" pitchFamily="34" charset="0"/>
                <a:ea typeface="Arial" pitchFamily="34" charset="-122"/>
                <a:cs typeface="Arial" pitchFamily="34" charset="-120"/>
              </a:rPr>
              <a:t>It rewards pairs that appear together more than expected — informative pairs, not just frequent ones. This one idea is why the two algorithms diverge.</a:t>
            </a:r>
            <a:endParaRPr lang="en-US" sz="1700" dirty="0"/>
          </a:p>
        </p:txBody>
      </p:sp>
      <p:sp>
        <p:nvSpPr>
          <p:cNvPr id="10" name="Text 7"/>
          <p:cNvSpPr/>
          <p:nvPr/>
        </p:nvSpPr>
        <p:spPr>
          <a:xfrm>
            <a:off x="11155680" y="6355080"/>
            <a:ext cx="457200" cy="274320"/>
          </a:xfrm>
          <a:prstGeom prst="rect">
            <a:avLst/>
          </a:prstGeom>
          <a:noFill/>
          <a:ln/>
        </p:spPr>
        <p:txBody>
          <a:bodyPr wrap="square" lIns="0" tIns="0" rIns="0" bIns="0" rtlCol="0" anchor="ctr"/>
          <a:lstStyle/>
          <a:p>
            <a:pPr algn="r" indent="0" marL="0">
              <a:buNone/>
            </a:pPr>
            <a:r>
              <a:rPr lang="en-US" sz="1000" dirty="0">
                <a:solidFill>
                  <a:srgbClr val="D2D2D7"/>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BFD"/>
        </a:solidFill>
      </p:bgPr>
    </p:bg>
    <p:spTree>
      <p:nvGrpSpPr>
        <p:cNvPr id="1" name=""/>
        <p:cNvGrpSpPr/>
        <p:nvPr/>
      </p:nvGrpSpPr>
      <p:grpSpPr>
        <a:xfrm>
          <a:off x="0" y="0"/>
          <a:ext cx="0" cy="0"/>
          <a:chOff x="0" y="0"/>
          <a:chExt cx="0" cy="0"/>
        </a:xfrm>
      </p:grpSpPr>
      <p:sp>
        <p:nvSpPr>
          <p:cNvPr id="3" name="Text 0"/>
          <p:cNvSpPr/>
          <p:nvPr/>
        </p:nvSpPr>
        <p:spPr>
          <a:xfrm>
            <a:off x="9235440" y="384048"/>
            <a:ext cx="2194560" cy="274320"/>
          </a:xfrm>
          <a:prstGeom prst="rect">
            <a:avLst/>
          </a:prstGeom>
          <a:noFill/>
          <a:ln/>
        </p:spPr>
        <p:txBody>
          <a:bodyPr wrap="square" lIns="0" tIns="0" rIns="0" bIns="0" rtlCol="0" anchor="ctr"/>
          <a:lstStyle/>
          <a:p>
            <a:pPr algn="r" indent="0" marL="0">
              <a:buNone/>
            </a:pPr>
            <a:r>
              <a:rPr lang="en-US" sz="950" spc="200" kern="0" dirty="0">
                <a:solidFill>
                  <a:srgbClr val="86868B"/>
                </a:solidFill>
                <a:latin typeface="Arial" pitchFamily="34" charset="0"/>
                <a:ea typeface="Arial" pitchFamily="34" charset="-122"/>
                <a:cs typeface="Arial" pitchFamily="34" charset="-120"/>
              </a:rPr>
              <a:t>IBRAR</a:t>
            </a:r>
            <a:endParaRPr lang="en-US" sz="950" dirty="0"/>
          </a:p>
        </p:txBody>
      </p:sp>
      <p:sp>
        <p:nvSpPr>
          <p:cNvPr id="4" name="Text 1"/>
          <p:cNvSpPr/>
          <p:nvPr/>
        </p:nvSpPr>
        <p:spPr>
          <a:xfrm>
            <a:off x="841248" y="640080"/>
            <a:ext cx="7315200" cy="274320"/>
          </a:xfrm>
          <a:prstGeom prst="rect">
            <a:avLst/>
          </a:prstGeom>
          <a:noFill/>
          <a:ln/>
        </p:spPr>
        <p:txBody>
          <a:bodyPr wrap="square" lIns="0" tIns="0" rIns="0" bIns="0" rtlCol="0" anchor="ctr"/>
          <a:lstStyle/>
          <a:p>
            <a:pPr indent="0" marL="0">
              <a:buNone/>
            </a:pPr>
            <a:r>
              <a:rPr lang="en-US" sz="1100" b="1" spc="300" kern="0" dirty="0">
                <a:solidFill>
                  <a:srgbClr val="0071E3"/>
                </a:solidFill>
                <a:latin typeface="Arial" pitchFamily="34" charset="0"/>
                <a:ea typeface="Arial" pitchFamily="34" charset="-122"/>
                <a:cs typeface="Arial" pitchFamily="34" charset="-120"/>
              </a:rPr>
              <a:t>HANDLING AMBIGUITY</a:t>
            </a:r>
            <a:endParaRPr lang="en-US" sz="1100" dirty="0"/>
          </a:p>
        </p:txBody>
      </p:sp>
      <p:sp>
        <p:nvSpPr>
          <p:cNvPr id="5" name="Text 2"/>
          <p:cNvSpPr/>
          <p:nvPr/>
        </p:nvSpPr>
        <p:spPr>
          <a:xfrm>
            <a:off x="841248" y="1463040"/>
            <a:ext cx="10058400" cy="914400"/>
          </a:xfrm>
          <a:prstGeom prst="rect">
            <a:avLst/>
          </a:prstGeom>
          <a:noFill/>
          <a:ln/>
        </p:spPr>
        <p:txBody>
          <a:bodyPr wrap="square" lIns="0" tIns="0" rIns="0" bIns="0" rtlCol="0" anchor="ctr"/>
          <a:lstStyle/>
          <a:p>
            <a:pPr indent="0" marL="0">
              <a:buNone/>
            </a:pPr>
            <a:r>
              <a:rPr lang="en-US" sz="4400" b="1" dirty="0">
                <a:solidFill>
                  <a:srgbClr val="1D1D1F"/>
                </a:solidFill>
                <a:latin typeface="Cambria" pitchFamily="34" charset="0"/>
                <a:ea typeface="Cambria" pitchFamily="34" charset="-122"/>
                <a:cs typeface="Cambria" pitchFamily="34" charset="-120"/>
              </a:rPr>
              <a:t>“there”  =  ?</a:t>
            </a:r>
            <a:endParaRPr lang="en-US" sz="4400" dirty="0"/>
          </a:p>
        </p:txBody>
      </p:sp>
      <p:sp>
        <p:nvSpPr>
          <p:cNvPr id="6" name="Text 3"/>
          <p:cNvSpPr/>
          <p:nvPr/>
        </p:nvSpPr>
        <p:spPr>
          <a:xfrm>
            <a:off x="841248" y="2926080"/>
            <a:ext cx="2377440" cy="548640"/>
          </a:xfrm>
          <a:prstGeom prst="rect">
            <a:avLst/>
          </a:prstGeom>
          <a:noFill/>
          <a:ln/>
        </p:spPr>
        <p:txBody>
          <a:bodyPr wrap="square" lIns="0" tIns="0" rIns="0" bIns="0" rtlCol="0" anchor="ctr"/>
          <a:lstStyle/>
          <a:p>
            <a:pPr indent="0" marL="0">
              <a:buNone/>
            </a:pPr>
            <a:r>
              <a:rPr lang="en-US" sz="1900" b="1" dirty="0">
                <a:solidFill>
                  <a:srgbClr val="0071E3"/>
                </a:solidFill>
                <a:latin typeface="Arial" pitchFamily="34" charset="0"/>
                <a:ea typeface="Arial" pitchFamily="34" charset="-122"/>
                <a:cs typeface="Arial" pitchFamily="34" charset="-120"/>
              </a:rPr>
              <a:t>BPE</a:t>
            </a:r>
            <a:endParaRPr lang="en-US" sz="1900" dirty="0"/>
          </a:p>
        </p:txBody>
      </p:sp>
      <p:sp>
        <p:nvSpPr>
          <p:cNvPr id="7" name="Text 4"/>
          <p:cNvSpPr/>
          <p:nvPr/>
        </p:nvSpPr>
        <p:spPr>
          <a:xfrm>
            <a:off x="3401568" y="2944368"/>
            <a:ext cx="7863840" cy="822960"/>
          </a:xfrm>
          <a:prstGeom prst="rect">
            <a:avLst/>
          </a:prstGeom>
          <a:noFill/>
          <a:ln/>
        </p:spPr>
        <p:txBody>
          <a:bodyPr wrap="square" lIns="0" tIns="0" rIns="0" bIns="0" rtlCol="0" anchor="ctr"/>
          <a:lstStyle/>
          <a:p>
            <a:pPr indent="0" marL="0">
              <a:lnSpc>
                <a:spcPct val="125000"/>
              </a:lnSpc>
              <a:buNone/>
            </a:pPr>
            <a:r>
              <a:rPr lang="en-US" sz="1600" dirty="0">
                <a:solidFill>
                  <a:srgbClr val="1D1D1F"/>
                </a:solidFill>
                <a:latin typeface="Arial" pitchFamily="34" charset="0"/>
                <a:ea typeface="Arial" pitchFamily="34" charset="-122"/>
                <a:cs typeface="Arial" pitchFamily="34" charset="-120"/>
              </a:rPr>
              <a:t>Replays its merge rules in the exact order learned. One possible outcome, always.</a:t>
            </a:r>
            <a:endParaRPr lang="en-US" sz="1600" dirty="0"/>
          </a:p>
        </p:txBody>
      </p:sp>
      <p:sp>
        <p:nvSpPr>
          <p:cNvPr id="8" name="Text 5"/>
          <p:cNvSpPr/>
          <p:nvPr/>
        </p:nvSpPr>
        <p:spPr>
          <a:xfrm>
            <a:off x="841248" y="4069080"/>
            <a:ext cx="2377440" cy="548640"/>
          </a:xfrm>
          <a:prstGeom prst="rect">
            <a:avLst/>
          </a:prstGeom>
          <a:noFill/>
          <a:ln/>
        </p:spPr>
        <p:txBody>
          <a:bodyPr wrap="square" lIns="0" tIns="0" rIns="0" bIns="0" rtlCol="0" anchor="ctr"/>
          <a:lstStyle/>
          <a:p>
            <a:pPr indent="0" marL="0">
              <a:buNone/>
            </a:pPr>
            <a:r>
              <a:rPr lang="en-US" sz="1900" b="1" dirty="0">
                <a:solidFill>
                  <a:srgbClr val="0071E3"/>
                </a:solidFill>
                <a:latin typeface="Arial" pitchFamily="34" charset="0"/>
                <a:ea typeface="Arial" pitchFamily="34" charset="-122"/>
                <a:cs typeface="Arial" pitchFamily="34" charset="-120"/>
              </a:rPr>
              <a:t>WordPiece</a:t>
            </a:r>
            <a:endParaRPr lang="en-US" sz="1900" dirty="0"/>
          </a:p>
        </p:txBody>
      </p:sp>
      <p:sp>
        <p:nvSpPr>
          <p:cNvPr id="9" name="Text 6"/>
          <p:cNvSpPr/>
          <p:nvPr/>
        </p:nvSpPr>
        <p:spPr>
          <a:xfrm>
            <a:off x="3401568" y="4087368"/>
            <a:ext cx="7863840" cy="822960"/>
          </a:xfrm>
          <a:prstGeom prst="rect">
            <a:avLst/>
          </a:prstGeom>
          <a:noFill/>
          <a:ln/>
        </p:spPr>
        <p:txBody>
          <a:bodyPr wrap="square" lIns="0" tIns="0" rIns="0" bIns="0" rtlCol="0" anchor="ctr"/>
          <a:lstStyle/>
          <a:p>
            <a:pPr indent="0" marL="0">
              <a:lnSpc>
                <a:spcPct val="125000"/>
              </a:lnSpc>
              <a:buNone/>
            </a:pPr>
            <a:r>
              <a:rPr lang="en-US" sz="1600" dirty="0">
                <a:solidFill>
                  <a:srgbClr val="1D1D1F"/>
                </a:solidFill>
                <a:latin typeface="Arial" pitchFamily="34" charset="0"/>
                <a:ea typeface="Arial" pitchFamily="34" charset="-122"/>
                <a:cs typeface="Arial" pitchFamily="34" charset="-120"/>
              </a:rPr>
              <a:t>Greedy longest-match: take the longest piece that fits, then continue.</a:t>
            </a:r>
            <a:endParaRPr lang="en-US" sz="1600" dirty="0"/>
          </a:p>
        </p:txBody>
      </p:sp>
      <p:sp>
        <p:nvSpPr>
          <p:cNvPr id="10" name="Text 7"/>
          <p:cNvSpPr/>
          <p:nvPr/>
        </p:nvSpPr>
        <p:spPr>
          <a:xfrm>
            <a:off x="841248" y="5394960"/>
            <a:ext cx="10058400" cy="457200"/>
          </a:xfrm>
          <a:prstGeom prst="rect">
            <a:avLst/>
          </a:prstGeom>
          <a:noFill/>
          <a:ln/>
        </p:spPr>
        <p:txBody>
          <a:bodyPr wrap="square" lIns="0" tIns="0" rIns="0" bIns="0" rtlCol="0" anchor="ctr"/>
          <a:lstStyle/>
          <a:p>
            <a:pPr indent="0" marL="0">
              <a:buNone/>
            </a:pPr>
            <a:r>
              <a:rPr lang="en-US" sz="1400" i="1" dirty="0">
                <a:solidFill>
                  <a:srgbClr val="86868B"/>
                </a:solidFill>
                <a:latin typeface="Arial" pitchFamily="34" charset="0"/>
                <a:ea typeface="Arial" pitchFamily="34" charset="-122"/>
                <a:cs typeface="Arial" pitchFamily="34" charset="-120"/>
              </a:rPr>
              <a:t>Ties broken alphabetically — so naive and fast make identical choices.</a:t>
            </a:r>
            <a:endParaRPr lang="en-US" sz="1400" dirty="0"/>
          </a:p>
        </p:txBody>
      </p:sp>
      <p:sp>
        <p:nvSpPr>
          <p:cNvPr id="11" name="Text 8"/>
          <p:cNvSpPr/>
          <p:nvPr/>
        </p:nvSpPr>
        <p:spPr>
          <a:xfrm>
            <a:off x="11155680" y="6355080"/>
            <a:ext cx="457200" cy="274320"/>
          </a:xfrm>
          <a:prstGeom prst="rect">
            <a:avLst/>
          </a:prstGeom>
          <a:noFill/>
          <a:ln/>
        </p:spPr>
        <p:txBody>
          <a:bodyPr wrap="square" lIns="0" tIns="0" rIns="0" bIns="0" rtlCol="0" anchor="ctr"/>
          <a:lstStyle/>
          <a:p>
            <a:pPr algn="r" indent="0" marL="0">
              <a:buNone/>
            </a:pPr>
            <a:r>
              <a:rPr lang="en-US" sz="1000" dirty="0">
                <a:solidFill>
                  <a:srgbClr val="D2D2D7"/>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D1D1F"/>
        </a:solidFill>
      </p:bgPr>
    </p:bg>
    <p:spTree>
      <p:nvGrpSpPr>
        <p:cNvPr id="1" name=""/>
        <p:cNvGrpSpPr/>
        <p:nvPr/>
      </p:nvGrpSpPr>
      <p:grpSpPr>
        <a:xfrm>
          <a:off x="0" y="0"/>
          <a:ext cx="0" cy="0"/>
          <a:chOff x="0" y="0"/>
          <a:chExt cx="0" cy="0"/>
        </a:xfrm>
      </p:grpSpPr>
      <p:sp>
        <p:nvSpPr>
          <p:cNvPr id="3" name="Text 0"/>
          <p:cNvSpPr/>
          <p:nvPr/>
        </p:nvSpPr>
        <p:spPr>
          <a:xfrm>
            <a:off x="841248" y="2743200"/>
            <a:ext cx="10058400" cy="100584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Experiments</a:t>
            </a:r>
            <a:endParaRPr lang="en-US" sz="5200" dirty="0"/>
          </a:p>
        </p:txBody>
      </p:sp>
      <p:sp>
        <p:nvSpPr>
          <p:cNvPr id="4" name="Text 1"/>
          <p:cNvSpPr/>
          <p:nvPr/>
        </p:nvSpPr>
        <p:spPr>
          <a:xfrm>
            <a:off x="841248" y="3794760"/>
            <a:ext cx="10058400" cy="457200"/>
          </a:xfrm>
          <a:prstGeom prst="rect">
            <a:avLst/>
          </a:prstGeom>
          <a:noFill/>
          <a:ln/>
        </p:spPr>
        <p:txBody>
          <a:bodyPr wrap="square" lIns="0" tIns="0" rIns="0" bIns="0" rtlCol="0" anchor="ctr"/>
          <a:lstStyle/>
          <a:p>
            <a:pPr indent="0" marL="0">
              <a:buNone/>
            </a:pPr>
            <a:r>
              <a:rPr lang="en-US" sz="1800" dirty="0">
                <a:solidFill>
                  <a:srgbClr val="B8B8C0"/>
                </a:solidFill>
                <a:latin typeface="Arial" pitchFamily="34" charset="0"/>
                <a:ea typeface="Arial" pitchFamily="34" charset="-122"/>
                <a:cs typeface="Arial" pitchFamily="34" charset="-120"/>
              </a:rPr>
              <a:t>Five questions, one corpus: German Wikipedia.</a:t>
            </a:r>
            <a:endParaRPr lang="en-US" sz="1800" dirty="0"/>
          </a:p>
        </p:txBody>
      </p:sp>
      <p:sp>
        <p:nvSpPr>
          <p:cNvPr id="5" name="Shape 2"/>
          <p:cNvSpPr/>
          <p:nvPr/>
        </p:nvSpPr>
        <p:spPr>
          <a:xfrm>
            <a:off x="841248" y="4434840"/>
            <a:ext cx="1828800" cy="0"/>
          </a:xfrm>
          <a:prstGeom prst="line">
            <a:avLst/>
          </a:prstGeom>
          <a:noFill/>
          <a:ln w="31750">
            <a:solidFill>
              <a:srgbClr val="0071E3"/>
            </a:solidFill>
            <a:prstDash val="solid"/>
          </a:ln>
        </p:spPr>
      </p:sp>
      <p:sp>
        <p:nvSpPr>
          <p:cNvPr id="6" name="Text 3"/>
          <p:cNvSpPr/>
          <p:nvPr/>
        </p:nvSpPr>
        <p:spPr>
          <a:xfrm>
            <a:off x="11155680" y="6355080"/>
            <a:ext cx="457200" cy="274320"/>
          </a:xfrm>
          <a:prstGeom prst="rect">
            <a:avLst/>
          </a:prstGeom>
          <a:noFill/>
          <a:ln/>
        </p:spPr>
        <p:txBody>
          <a:bodyPr wrap="square" lIns="0" tIns="0" rIns="0" bIns="0" rtlCol="0" anchor="ctr"/>
          <a:lstStyle/>
          <a:p>
            <a:pPr algn="r" indent="0" marL="0">
              <a:buNone/>
            </a:pPr>
            <a:r>
              <a:rPr lang="en-US" sz="1000" dirty="0">
                <a:solidFill>
                  <a:srgbClr val="D2D2D7"/>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BFD"/>
        </a:solidFill>
      </p:bgPr>
    </p:bg>
    <p:spTree>
      <p:nvGrpSpPr>
        <p:cNvPr id="1" name=""/>
        <p:cNvGrpSpPr/>
        <p:nvPr/>
      </p:nvGrpSpPr>
      <p:grpSpPr>
        <a:xfrm>
          <a:off x="0" y="0"/>
          <a:ext cx="0" cy="0"/>
          <a:chOff x="0" y="0"/>
          <a:chExt cx="0" cy="0"/>
        </a:xfrm>
      </p:grpSpPr>
      <p:sp>
        <p:nvSpPr>
          <p:cNvPr id="3" name="Text 0"/>
          <p:cNvSpPr/>
          <p:nvPr/>
        </p:nvSpPr>
        <p:spPr>
          <a:xfrm>
            <a:off x="9235440" y="384048"/>
            <a:ext cx="2194560" cy="274320"/>
          </a:xfrm>
          <a:prstGeom prst="rect">
            <a:avLst/>
          </a:prstGeom>
          <a:noFill/>
          <a:ln/>
        </p:spPr>
        <p:txBody>
          <a:bodyPr wrap="square" lIns="0" tIns="0" rIns="0" bIns="0" rtlCol="0" anchor="ctr"/>
          <a:lstStyle/>
          <a:p>
            <a:pPr algn="r" indent="0" marL="0">
              <a:buNone/>
            </a:pPr>
            <a:r>
              <a:rPr lang="en-US" sz="950" spc="200" kern="0" dirty="0">
                <a:solidFill>
                  <a:srgbClr val="86868B"/>
                </a:solidFill>
                <a:latin typeface="Arial" pitchFamily="34" charset="0"/>
                <a:ea typeface="Arial" pitchFamily="34" charset="-122"/>
                <a:cs typeface="Arial" pitchFamily="34" charset="-120"/>
              </a:rPr>
              <a:t>DAYO</a:t>
            </a:r>
            <a:endParaRPr lang="en-US" sz="950" dirty="0"/>
          </a:p>
        </p:txBody>
      </p:sp>
      <p:sp>
        <p:nvSpPr>
          <p:cNvPr id="4" name="Text 1"/>
          <p:cNvSpPr/>
          <p:nvPr/>
        </p:nvSpPr>
        <p:spPr>
          <a:xfrm>
            <a:off x="841248" y="640080"/>
            <a:ext cx="7315200" cy="274320"/>
          </a:xfrm>
          <a:prstGeom prst="rect">
            <a:avLst/>
          </a:prstGeom>
          <a:noFill/>
          <a:ln/>
        </p:spPr>
        <p:txBody>
          <a:bodyPr wrap="square" lIns="0" tIns="0" rIns="0" bIns="0" rtlCol="0" anchor="ctr"/>
          <a:lstStyle/>
          <a:p>
            <a:pPr indent="0" marL="0">
              <a:buNone/>
            </a:pPr>
            <a:r>
              <a:rPr lang="en-US" sz="1100" b="1" spc="300" kern="0" dirty="0">
                <a:solidFill>
                  <a:srgbClr val="0071E3"/>
                </a:solidFill>
                <a:latin typeface="Arial" pitchFamily="34" charset="0"/>
                <a:ea typeface="Arial" pitchFamily="34" charset="-122"/>
                <a:cs typeface="Arial" pitchFamily="34" charset="-120"/>
              </a:rPr>
              <a:t>EXPERIMENT 1 · SPEED</a:t>
            </a:r>
            <a:endParaRPr lang="en-US" sz="1100" dirty="0"/>
          </a:p>
        </p:txBody>
      </p:sp>
      <p:sp>
        <p:nvSpPr>
          <p:cNvPr id="5" name="Text 2"/>
          <p:cNvSpPr/>
          <p:nvPr/>
        </p:nvSpPr>
        <p:spPr>
          <a:xfrm>
            <a:off x="841248" y="1097280"/>
            <a:ext cx="5486400" cy="731520"/>
          </a:xfrm>
          <a:prstGeom prst="rect">
            <a:avLst/>
          </a:prstGeom>
          <a:noFill/>
          <a:ln/>
        </p:spPr>
        <p:txBody>
          <a:bodyPr wrap="square" lIns="0" tIns="0" rIns="0" bIns="0" rtlCol="0" anchor="ctr"/>
          <a:lstStyle/>
          <a:p>
            <a:pPr indent="0" marL="0">
              <a:buNone/>
            </a:pPr>
            <a:r>
              <a:rPr lang="en-US" sz="3400" b="1" dirty="0">
                <a:solidFill>
                  <a:srgbClr val="1D1D1F"/>
                </a:solidFill>
                <a:latin typeface="Cambria" pitchFamily="34" charset="0"/>
                <a:ea typeface="Cambria" pitchFamily="34" charset="-122"/>
                <a:cs typeface="Cambria" pitchFamily="34" charset="-120"/>
              </a:rPr>
              <a:t>Fast stays flat.</a:t>
            </a:r>
            <a:endParaRPr lang="en-US" sz="3400" dirty="0"/>
          </a:p>
        </p:txBody>
      </p:sp>
      <p:pic>
        <p:nvPicPr>
          <p:cNvPr id="6" name="Image 0" descr="fig/speed.png">    </p:cNvPr>
          <p:cNvPicPr>
            <a:picLocks noChangeAspect="1"/>
          </p:cNvPicPr>
          <p:nvPr/>
        </p:nvPicPr>
        <p:blipFill>
          <a:blip r:embed="rId1"/>
          <a:srcRect l="0" r="0" t="0" b="0"/>
          <a:stretch/>
        </p:blipFill>
        <p:spPr>
          <a:xfrm>
            <a:off x="841248" y="1920240"/>
            <a:ext cx="6766560" cy="3931920"/>
          </a:xfrm>
          <a:prstGeom prst="rect">
            <a:avLst/>
          </a:prstGeom>
        </p:spPr>
      </p:pic>
      <p:sp>
        <p:nvSpPr>
          <p:cNvPr id="7" name="Text 3"/>
          <p:cNvSpPr/>
          <p:nvPr/>
        </p:nvSpPr>
        <p:spPr>
          <a:xfrm>
            <a:off x="8138160" y="2468880"/>
            <a:ext cx="3291840" cy="2926080"/>
          </a:xfrm>
          <a:prstGeom prst="rect">
            <a:avLst/>
          </a:prstGeom>
          <a:noFill/>
          <a:ln/>
        </p:spPr>
        <p:txBody>
          <a:bodyPr wrap="square" lIns="0" tIns="0" rIns="0" bIns="0" rtlCol="0" anchor="ctr"/>
          <a:lstStyle/>
          <a:p>
            <a:pPr indent="0" marL="0">
              <a:lnSpc>
                <a:spcPct val="105000"/>
              </a:lnSpc>
              <a:buNone/>
            </a:pPr>
            <a:r>
              <a:rPr lang="en-US" sz="5400" b="1" dirty="0">
                <a:solidFill>
                  <a:srgbClr val="1D1D1F"/>
                </a:solidFill>
                <a:latin typeface="Arial" pitchFamily="34" charset="0"/>
                <a:ea typeface="Arial" pitchFamily="34" charset="-122"/>
                <a:cs typeface="Arial" pitchFamily="34" charset="-120"/>
              </a:rPr>
              <a:t>235s</a:t>
            </a:r>
            <a:endParaRPr lang="en-US" sz="5400" dirty="0"/>
          </a:p>
          <a:p>
            <a:pPr indent="0" marL="0">
              <a:lnSpc>
                <a:spcPct val="105000"/>
              </a:lnSpc>
              <a:buNone/>
            </a:pPr>
            <a:r>
              <a:rPr lang="en-US" sz="1400" dirty="0">
                <a:solidFill>
                  <a:srgbClr val="86868B"/>
                </a:solidFill>
                <a:latin typeface="Arial" pitchFamily="34" charset="0"/>
                <a:ea typeface="Arial" pitchFamily="34" charset="-122"/>
                <a:cs typeface="Arial" pitchFamily="34" charset="-120"/>
              </a:rPr>
              <a:t>naive WordPiece at 20k words</a:t>
            </a:r>
            <a:endParaRPr lang="en-US" sz="5400" dirty="0"/>
          </a:p>
          <a:p>
            <a:pPr indent="0" marL="0">
              <a:lnSpc>
                <a:spcPct val="105000"/>
              </a:lnSpc>
              <a:buNone/>
            </a:pPr>
            <a:r>
              <a:rPr lang="en-US" sz="1000" dirty="0">
                <a:solidFill>
                  <a:srgbClr val="000000"/>
                </a:solidFill>
                <a:latin typeface="Arial" pitchFamily="34" charset="0"/>
                <a:ea typeface="Arial" pitchFamily="34" charset="-122"/>
                <a:cs typeface="Arial" pitchFamily="34" charset="-120"/>
              </a:rPr>
              <a:t> </a:t>
            </a:r>
            <a:endParaRPr lang="en-US" sz="5400" dirty="0"/>
          </a:p>
          <a:p>
            <a:pPr indent="0" marL="0">
              <a:lnSpc>
                <a:spcPct val="105000"/>
              </a:lnSpc>
              <a:buNone/>
            </a:pPr>
            <a:r>
              <a:rPr lang="en-US" sz="5400" b="1" dirty="0">
                <a:solidFill>
                  <a:srgbClr val="0071E3"/>
                </a:solidFill>
                <a:latin typeface="Arial" pitchFamily="34" charset="0"/>
                <a:ea typeface="Arial" pitchFamily="34" charset="-122"/>
                <a:cs typeface="Arial" pitchFamily="34" charset="-120"/>
              </a:rPr>
              <a:t>0.8s</a:t>
            </a:r>
            <a:endParaRPr lang="en-US" sz="5400" dirty="0"/>
          </a:p>
          <a:p>
            <a:pPr indent="0" marL="0">
              <a:lnSpc>
                <a:spcPct val="105000"/>
              </a:lnSpc>
              <a:buNone/>
            </a:pPr>
            <a:r>
              <a:rPr lang="en-US" sz="1400" dirty="0">
                <a:solidFill>
                  <a:srgbClr val="86868B"/>
                </a:solidFill>
                <a:latin typeface="Arial" pitchFamily="34" charset="0"/>
                <a:ea typeface="Arial" pitchFamily="34" charset="-122"/>
                <a:cs typeface="Arial" pitchFamily="34" charset="-120"/>
              </a:rPr>
              <a:t>fast WordPiece, same task</a:t>
            </a:r>
            <a:endParaRPr lang="en-US" sz="5400" dirty="0"/>
          </a:p>
        </p:txBody>
      </p:sp>
      <p:sp>
        <p:nvSpPr>
          <p:cNvPr id="8" name="Text 4"/>
          <p:cNvSpPr/>
          <p:nvPr/>
        </p:nvSpPr>
        <p:spPr>
          <a:xfrm>
            <a:off x="11155680" y="6355080"/>
            <a:ext cx="457200" cy="274320"/>
          </a:xfrm>
          <a:prstGeom prst="rect">
            <a:avLst/>
          </a:prstGeom>
          <a:noFill/>
          <a:ln/>
        </p:spPr>
        <p:txBody>
          <a:bodyPr wrap="square" lIns="0" tIns="0" rIns="0" bIns="0" rtlCol="0" anchor="ctr"/>
          <a:lstStyle/>
          <a:p>
            <a:pPr algn="r" indent="0" marL="0">
              <a:buNone/>
            </a:pPr>
            <a:r>
              <a:rPr lang="en-US" sz="1000" dirty="0">
                <a:solidFill>
                  <a:srgbClr val="D2D2D7"/>
                </a:solidFill>
                <a:latin typeface="Arial" pitchFamily="34" charset="0"/>
                <a:ea typeface="Arial" pitchFamily="34" charset="-122"/>
                <a:cs typeface="Arial"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BFD"/>
        </a:solidFill>
      </p:bgPr>
    </p:bg>
    <p:spTree>
      <p:nvGrpSpPr>
        <p:cNvPr id="1" name=""/>
        <p:cNvGrpSpPr/>
        <p:nvPr/>
      </p:nvGrpSpPr>
      <p:grpSpPr>
        <a:xfrm>
          <a:off x="0" y="0"/>
          <a:ext cx="0" cy="0"/>
          <a:chOff x="0" y="0"/>
          <a:chExt cx="0" cy="0"/>
        </a:xfrm>
      </p:grpSpPr>
      <p:sp>
        <p:nvSpPr>
          <p:cNvPr id="3" name="Text 0"/>
          <p:cNvSpPr/>
          <p:nvPr/>
        </p:nvSpPr>
        <p:spPr>
          <a:xfrm>
            <a:off x="9235440" y="384048"/>
            <a:ext cx="2194560" cy="274320"/>
          </a:xfrm>
          <a:prstGeom prst="rect">
            <a:avLst/>
          </a:prstGeom>
          <a:noFill/>
          <a:ln/>
        </p:spPr>
        <p:txBody>
          <a:bodyPr wrap="square" lIns="0" tIns="0" rIns="0" bIns="0" rtlCol="0" anchor="ctr"/>
          <a:lstStyle/>
          <a:p>
            <a:pPr algn="r" indent="0" marL="0">
              <a:buNone/>
            </a:pPr>
            <a:r>
              <a:rPr lang="en-US" sz="950" spc="200" kern="0" dirty="0">
                <a:solidFill>
                  <a:srgbClr val="86868B"/>
                </a:solidFill>
                <a:latin typeface="Arial" pitchFamily="34" charset="0"/>
                <a:ea typeface="Arial" pitchFamily="34" charset="-122"/>
                <a:cs typeface="Arial" pitchFamily="34" charset="-120"/>
              </a:rPr>
              <a:t>DAYO</a:t>
            </a:r>
            <a:endParaRPr lang="en-US" sz="950" dirty="0"/>
          </a:p>
        </p:txBody>
      </p:sp>
      <p:sp>
        <p:nvSpPr>
          <p:cNvPr id="4" name="Text 1"/>
          <p:cNvSpPr/>
          <p:nvPr/>
        </p:nvSpPr>
        <p:spPr>
          <a:xfrm>
            <a:off x="841248" y="640080"/>
            <a:ext cx="7315200" cy="274320"/>
          </a:xfrm>
          <a:prstGeom prst="rect">
            <a:avLst/>
          </a:prstGeom>
          <a:noFill/>
          <a:ln/>
        </p:spPr>
        <p:txBody>
          <a:bodyPr wrap="square" lIns="0" tIns="0" rIns="0" bIns="0" rtlCol="0" anchor="ctr"/>
          <a:lstStyle/>
          <a:p>
            <a:pPr indent="0" marL="0">
              <a:buNone/>
            </a:pPr>
            <a:r>
              <a:rPr lang="en-US" sz="1100" b="1" spc="300" kern="0" dirty="0">
                <a:solidFill>
                  <a:srgbClr val="0071E3"/>
                </a:solidFill>
                <a:latin typeface="Arial" pitchFamily="34" charset="0"/>
                <a:ea typeface="Arial" pitchFamily="34" charset="-122"/>
                <a:cs typeface="Arial" pitchFamily="34" charset="-120"/>
              </a:rPr>
              <a:t>EXPERIMENT 2 · THRESHOLD</a:t>
            </a:r>
            <a:endParaRPr lang="en-US" sz="1100" dirty="0"/>
          </a:p>
        </p:txBody>
      </p:sp>
      <p:sp>
        <p:nvSpPr>
          <p:cNvPr id="5" name="Text 2"/>
          <p:cNvSpPr/>
          <p:nvPr/>
        </p:nvSpPr>
        <p:spPr>
          <a:xfrm>
            <a:off x="841248" y="1097280"/>
            <a:ext cx="7315200" cy="731520"/>
          </a:xfrm>
          <a:prstGeom prst="rect">
            <a:avLst/>
          </a:prstGeom>
          <a:noFill/>
          <a:ln/>
        </p:spPr>
        <p:txBody>
          <a:bodyPr wrap="square" lIns="0" tIns="0" rIns="0" bIns="0" rtlCol="0" anchor="ctr"/>
          <a:lstStyle/>
          <a:p>
            <a:pPr indent="0" marL="0">
              <a:buNone/>
            </a:pPr>
            <a:r>
              <a:rPr lang="en-US" sz="3200" b="1" dirty="0">
                <a:solidFill>
                  <a:srgbClr val="1D1D1F"/>
                </a:solidFill>
                <a:latin typeface="Cambria" pitchFamily="34" charset="0"/>
                <a:ea typeface="Cambria" pitchFamily="34" charset="-122"/>
                <a:cs typeface="Cambria" pitchFamily="34" charset="-120"/>
              </a:rPr>
              <a:t>A quality–quantity trade-off.</a:t>
            </a:r>
            <a:endParaRPr lang="en-US" sz="3200" dirty="0"/>
          </a:p>
        </p:txBody>
      </p:sp>
      <p:pic>
        <p:nvPicPr>
          <p:cNvPr id="6" name="Image 0" descr="fig/threshold.png">    </p:cNvPr>
          <p:cNvPicPr>
            <a:picLocks noChangeAspect="1"/>
          </p:cNvPicPr>
          <p:nvPr/>
        </p:nvPicPr>
        <p:blipFill>
          <a:blip r:embed="rId1"/>
          <a:srcRect l="0" r="0" t="0" b="0"/>
          <a:stretch/>
        </p:blipFill>
        <p:spPr>
          <a:xfrm>
            <a:off x="841248" y="1920240"/>
            <a:ext cx="6766560" cy="3931920"/>
          </a:xfrm>
          <a:prstGeom prst="rect">
            <a:avLst/>
          </a:prstGeom>
        </p:spPr>
      </p:pic>
      <p:sp>
        <p:nvSpPr>
          <p:cNvPr id="7" name="Text 3"/>
          <p:cNvSpPr/>
          <p:nvPr/>
        </p:nvSpPr>
        <p:spPr>
          <a:xfrm>
            <a:off x="8138160" y="2651760"/>
            <a:ext cx="3291840" cy="2743200"/>
          </a:xfrm>
          <a:prstGeom prst="rect">
            <a:avLst/>
          </a:prstGeom>
          <a:noFill/>
          <a:ln/>
        </p:spPr>
        <p:txBody>
          <a:bodyPr wrap="square" lIns="0" tIns="0" rIns="0" bIns="0" rtlCol="0" anchor="ctr"/>
          <a:lstStyle/>
          <a:p>
            <a:pPr indent="0" marL="0">
              <a:lnSpc>
                <a:spcPct val="135000"/>
              </a:lnSpc>
              <a:buNone/>
            </a:pPr>
            <a:r>
              <a:rPr lang="en-US" sz="1600" dirty="0">
                <a:solidFill>
                  <a:srgbClr val="1D1D1F"/>
                </a:solidFill>
                <a:latin typeface="Arial" pitchFamily="34" charset="0"/>
                <a:ea typeface="Arial" pitchFamily="34" charset="-122"/>
                <a:cs typeface="Arial" pitchFamily="34" charset="-120"/>
              </a:rPr>
              <a:t>A frequency threshold cleans up junk merges and lifts naive/fast agreement to 95%.</a:t>
            </a:r>
            <a:endParaRPr lang="en-US" sz="1600" dirty="0"/>
          </a:p>
          <a:p>
            <a:pPr indent="0" marL="0">
              <a:lnSpc>
                <a:spcPct val="135000"/>
              </a:lnSpc>
              <a:buNone/>
            </a:pPr>
            <a:r>
              <a:rPr lang="en-US" sz="1000" dirty="0">
                <a:solidFill>
                  <a:srgbClr val="000000"/>
                </a:solidFill>
                <a:latin typeface="Arial" pitchFamily="34" charset="0"/>
                <a:ea typeface="Arial" pitchFamily="34" charset="-122"/>
                <a:cs typeface="Arial" pitchFamily="34" charset="-120"/>
              </a:rPr>
              <a:t> </a:t>
            </a:r>
            <a:endParaRPr lang="en-US" sz="1600" dirty="0"/>
          </a:p>
          <a:p>
            <a:pPr indent="0" marL="0">
              <a:lnSpc>
                <a:spcPct val="135000"/>
              </a:lnSpc>
              <a:buNone/>
            </a:pPr>
            <a:r>
              <a:rPr lang="en-US" sz="1600" dirty="0">
                <a:solidFill>
                  <a:srgbClr val="86868B"/>
                </a:solidFill>
                <a:latin typeface="Arial" pitchFamily="34" charset="0"/>
                <a:ea typeface="Arial" pitchFamily="34" charset="-122"/>
                <a:cs typeface="Arial" pitchFamily="34" charset="-120"/>
              </a:rPr>
              <a:t>But set it too high and the vocabulary saturates — it stops growing before the target size.</a:t>
            </a:r>
            <a:endParaRPr lang="en-US" sz="1600" dirty="0"/>
          </a:p>
        </p:txBody>
      </p:sp>
      <p:sp>
        <p:nvSpPr>
          <p:cNvPr id="8" name="Text 4"/>
          <p:cNvSpPr/>
          <p:nvPr/>
        </p:nvSpPr>
        <p:spPr>
          <a:xfrm>
            <a:off x="11155680" y="6355080"/>
            <a:ext cx="457200" cy="274320"/>
          </a:xfrm>
          <a:prstGeom prst="rect">
            <a:avLst/>
          </a:prstGeom>
          <a:noFill/>
          <a:ln/>
        </p:spPr>
        <p:txBody>
          <a:bodyPr wrap="square" lIns="0" tIns="0" rIns="0" bIns="0" rtlCol="0" anchor="ctr"/>
          <a:lstStyle/>
          <a:p>
            <a:pPr algn="r" indent="0" marL="0">
              <a:buNone/>
            </a:pPr>
            <a:r>
              <a:rPr lang="en-US" sz="1000" dirty="0">
                <a:solidFill>
                  <a:srgbClr val="D2D2D7"/>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BFD"/>
        </a:solidFill>
      </p:bgPr>
    </p:bg>
    <p:spTree>
      <p:nvGrpSpPr>
        <p:cNvPr id="1" name=""/>
        <p:cNvGrpSpPr/>
        <p:nvPr/>
      </p:nvGrpSpPr>
      <p:grpSpPr>
        <a:xfrm>
          <a:off x="0" y="0"/>
          <a:ext cx="0" cy="0"/>
          <a:chOff x="0" y="0"/>
          <a:chExt cx="0" cy="0"/>
        </a:xfrm>
      </p:grpSpPr>
      <p:sp>
        <p:nvSpPr>
          <p:cNvPr id="3" name="Text 0"/>
          <p:cNvSpPr/>
          <p:nvPr/>
        </p:nvSpPr>
        <p:spPr>
          <a:xfrm>
            <a:off x="9235440" y="384048"/>
            <a:ext cx="2194560" cy="274320"/>
          </a:xfrm>
          <a:prstGeom prst="rect">
            <a:avLst/>
          </a:prstGeom>
          <a:noFill/>
          <a:ln/>
        </p:spPr>
        <p:txBody>
          <a:bodyPr wrap="square" lIns="0" tIns="0" rIns="0" bIns="0" rtlCol="0" anchor="ctr"/>
          <a:lstStyle/>
          <a:p>
            <a:pPr algn="r" indent="0" marL="0">
              <a:buNone/>
            </a:pPr>
            <a:r>
              <a:rPr lang="en-US" sz="950" spc="200" kern="0" dirty="0">
                <a:solidFill>
                  <a:srgbClr val="86868B"/>
                </a:solidFill>
                <a:latin typeface="Arial" pitchFamily="34" charset="0"/>
                <a:ea typeface="Arial" pitchFamily="34" charset="-122"/>
                <a:cs typeface="Arial" pitchFamily="34" charset="-120"/>
              </a:rPr>
              <a:t>DAYO</a:t>
            </a:r>
            <a:endParaRPr lang="en-US" sz="950" dirty="0"/>
          </a:p>
        </p:txBody>
      </p:sp>
      <p:sp>
        <p:nvSpPr>
          <p:cNvPr id="4" name="Text 1"/>
          <p:cNvSpPr/>
          <p:nvPr/>
        </p:nvSpPr>
        <p:spPr>
          <a:xfrm>
            <a:off x="841248" y="640080"/>
            <a:ext cx="7315200" cy="274320"/>
          </a:xfrm>
          <a:prstGeom prst="rect">
            <a:avLst/>
          </a:prstGeom>
          <a:noFill/>
          <a:ln/>
        </p:spPr>
        <p:txBody>
          <a:bodyPr wrap="square" lIns="0" tIns="0" rIns="0" bIns="0" rtlCol="0" anchor="ctr"/>
          <a:lstStyle/>
          <a:p>
            <a:pPr indent="0" marL="0">
              <a:buNone/>
            </a:pPr>
            <a:r>
              <a:rPr lang="en-US" sz="1100" b="1" spc="300" kern="0" dirty="0">
                <a:solidFill>
                  <a:srgbClr val="0071E3"/>
                </a:solidFill>
                <a:latin typeface="Arial" pitchFamily="34" charset="0"/>
                <a:ea typeface="Arial" pitchFamily="34" charset="-122"/>
                <a:cs typeface="Arial" pitchFamily="34" charset="-120"/>
              </a:rPr>
              <a:t>EXPERIMENT 3–4 · LENGTH &amp; COST</a:t>
            </a:r>
            <a:endParaRPr lang="en-US" sz="1100" dirty="0"/>
          </a:p>
        </p:txBody>
      </p:sp>
      <p:sp>
        <p:nvSpPr>
          <p:cNvPr id="5" name="Text 2"/>
          <p:cNvSpPr/>
          <p:nvPr/>
        </p:nvSpPr>
        <p:spPr>
          <a:xfrm>
            <a:off x="841248" y="1325880"/>
            <a:ext cx="10058400" cy="731520"/>
          </a:xfrm>
          <a:prstGeom prst="rect">
            <a:avLst/>
          </a:prstGeom>
          <a:noFill/>
          <a:ln/>
        </p:spPr>
        <p:txBody>
          <a:bodyPr wrap="square" lIns="0" tIns="0" rIns="0" bIns="0" rtlCol="0" anchor="ctr"/>
          <a:lstStyle/>
          <a:p>
            <a:pPr indent="0" marL="0">
              <a:buNone/>
            </a:pPr>
            <a:r>
              <a:rPr lang="en-US" sz="3400" b="1" dirty="0">
                <a:solidFill>
                  <a:srgbClr val="1D1D1F"/>
                </a:solidFill>
                <a:latin typeface="Cambria" pitchFamily="34" charset="0"/>
                <a:ea typeface="Cambria" pitchFamily="34" charset="-122"/>
                <a:cs typeface="Cambria" pitchFamily="34" charset="-120"/>
              </a:rPr>
              <a:t>Fewer tokens, cheaper model.</a:t>
            </a:r>
            <a:endParaRPr lang="en-US" sz="3400" dirty="0"/>
          </a:p>
        </p:txBody>
      </p:sp>
      <p:sp>
        <p:nvSpPr>
          <p:cNvPr id="6" name="Text 3"/>
          <p:cNvSpPr/>
          <p:nvPr/>
        </p:nvSpPr>
        <p:spPr>
          <a:xfrm>
            <a:off x="841248" y="2103120"/>
            <a:ext cx="10058400" cy="457200"/>
          </a:xfrm>
          <a:prstGeom prst="rect">
            <a:avLst/>
          </a:prstGeom>
          <a:noFill/>
          <a:ln/>
        </p:spPr>
        <p:txBody>
          <a:bodyPr wrap="square" lIns="0" tIns="0" rIns="0" bIns="0" rtlCol="0" anchor="ctr"/>
          <a:lstStyle/>
          <a:p>
            <a:pPr indent="0" marL="0">
              <a:buNone/>
            </a:pPr>
            <a:r>
              <a:rPr lang="en-US" sz="1700" dirty="0">
                <a:solidFill>
                  <a:srgbClr val="86868B"/>
                </a:solidFill>
                <a:latin typeface="Arial" pitchFamily="34" charset="0"/>
                <a:ea typeface="Arial" pitchFamily="34" charset="-122"/>
                <a:cs typeface="Arial" pitchFamily="34" charset="-120"/>
              </a:rPr>
              <a:t>Attention cost grows with the square of the token count (n × n).</a:t>
            </a:r>
            <a:endParaRPr lang="en-US" sz="1700" dirty="0"/>
          </a:p>
        </p:txBody>
      </p:sp>
      <p:sp>
        <p:nvSpPr>
          <p:cNvPr id="7" name="Text 4"/>
          <p:cNvSpPr/>
          <p:nvPr/>
        </p:nvSpPr>
        <p:spPr>
          <a:xfrm>
            <a:off x="841248" y="3108960"/>
            <a:ext cx="3200400" cy="1188720"/>
          </a:xfrm>
          <a:prstGeom prst="rect">
            <a:avLst/>
          </a:prstGeom>
          <a:noFill/>
          <a:ln/>
        </p:spPr>
        <p:txBody>
          <a:bodyPr wrap="square" lIns="0" tIns="0" rIns="0" bIns="0" rtlCol="0" anchor="ctr"/>
          <a:lstStyle/>
          <a:p>
            <a:pPr algn="ctr" indent="0" marL="0">
              <a:buNone/>
            </a:pPr>
            <a:r>
              <a:rPr lang="en-US" sz="6400" b="1" dirty="0">
                <a:solidFill>
                  <a:srgbClr val="1D1D1F"/>
                </a:solidFill>
                <a:latin typeface="Cambria" pitchFamily="34" charset="0"/>
                <a:ea typeface="Cambria" pitchFamily="34" charset="-122"/>
                <a:cs typeface="Cambria" pitchFamily="34" charset="-120"/>
              </a:rPr>
              <a:t>7</a:t>
            </a:r>
            <a:endParaRPr lang="en-US" sz="6400" dirty="0"/>
          </a:p>
        </p:txBody>
      </p:sp>
      <p:sp>
        <p:nvSpPr>
          <p:cNvPr id="8" name="Text 5"/>
          <p:cNvSpPr/>
          <p:nvPr/>
        </p:nvSpPr>
        <p:spPr>
          <a:xfrm>
            <a:off x="841248" y="4434840"/>
            <a:ext cx="3200400" cy="640080"/>
          </a:xfrm>
          <a:prstGeom prst="rect">
            <a:avLst/>
          </a:prstGeom>
          <a:noFill/>
          <a:ln/>
        </p:spPr>
        <p:txBody>
          <a:bodyPr wrap="square" lIns="0" tIns="0" rIns="0" bIns="0" rtlCol="0" anchor="ctr"/>
          <a:lstStyle/>
          <a:p>
            <a:pPr algn="ctr" indent="0" marL="0">
              <a:buNone/>
            </a:pPr>
            <a:r>
              <a:rPr lang="en-US" sz="1400" dirty="0">
                <a:solidFill>
                  <a:srgbClr val="86868B"/>
                </a:solidFill>
                <a:latin typeface="Arial" pitchFamily="34" charset="0"/>
                <a:ea typeface="Arial" pitchFamily="34" charset="-122"/>
                <a:cs typeface="Arial" pitchFamily="34" charset="-120"/>
              </a:rPr>
              <a:t>BPE tokens / sentence</a:t>
            </a:r>
            <a:endParaRPr lang="en-US" sz="1400" dirty="0"/>
          </a:p>
        </p:txBody>
      </p:sp>
      <p:sp>
        <p:nvSpPr>
          <p:cNvPr id="9" name="Text 6"/>
          <p:cNvSpPr/>
          <p:nvPr/>
        </p:nvSpPr>
        <p:spPr>
          <a:xfrm>
            <a:off x="4544568" y="3108960"/>
            <a:ext cx="3200400" cy="1188720"/>
          </a:xfrm>
          <a:prstGeom prst="rect">
            <a:avLst/>
          </a:prstGeom>
          <a:noFill/>
          <a:ln/>
        </p:spPr>
        <p:txBody>
          <a:bodyPr wrap="square" lIns="0" tIns="0" rIns="0" bIns="0" rtlCol="0" anchor="ctr"/>
          <a:lstStyle/>
          <a:p>
            <a:pPr algn="ctr" indent="0" marL="0">
              <a:buNone/>
            </a:pPr>
            <a:r>
              <a:rPr lang="en-US" sz="6400" b="1" dirty="0">
                <a:solidFill>
                  <a:srgbClr val="86868B"/>
                </a:solidFill>
                <a:latin typeface="Cambria" pitchFamily="34" charset="0"/>
                <a:ea typeface="Cambria" pitchFamily="34" charset="-122"/>
                <a:cs typeface="Cambria" pitchFamily="34" charset="-120"/>
              </a:rPr>
              <a:t>25</a:t>
            </a:r>
            <a:endParaRPr lang="en-US" sz="6400" dirty="0"/>
          </a:p>
        </p:txBody>
      </p:sp>
      <p:sp>
        <p:nvSpPr>
          <p:cNvPr id="10" name="Text 7"/>
          <p:cNvSpPr/>
          <p:nvPr/>
        </p:nvSpPr>
        <p:spPr>
          <a:xfrm>
            <a:off x="4544568" y="4434840"/>
            <a:ext cx="3200400" cy="640080"/>
          </a:xfrm>
          <a:prstGeom prst="rect">
            <a:avLst/>
          </a:prstGeom>
          <a:noFill/>
          <a:ln/>
        </p:spPr>
        <p:txBody>
          <a:bodyPr wrap="square" lIns="0" tIns="0" rIns="0" bIns="0" rtlCol="0" anchor="ctr"/>
          <a:lstStyle/>
          <a:p>
            <a:pPr algn="ctr" indent="0" marL="0">
              <a:buNone/>
            </a:pPr>
            <a:r>
              <a:rPr lang="en-US" sz="1400" dirty="0">
                <a:solidFill>
                  <a:srgbClr val="86868B"/>
                </a:solidFill>
                <a:latin typeface="Arial" pitchFamily="34" charset="0"/>
                <a:ea typeface="Arial" pitchFamily="34" charset="-122"/>
                <a:cs typeface="Arial" pitchFamily="34" charset="-120"/>
              </a:rPr>
              <a:t>WordPiece tokens / sentence</a:t>
            </a:r>
            <a:endParaRPr lang="en-US" sz="1400" dirty="0"/>
          </a:p>
        </p:txBody>
      </p:sp>
      <p:sp>
        <p:nvSpPr>
          <p:cNvPr id="11" name="Text 8"/>
          <p:cNvSpPr/>
          <p:nvPr/>
        </p:nvSpPr>
        <p:spPr>
          <a:xfrm>
            <a:off x="8247888" y="3108960"/>
            <a:ext cx="3200400" cy="1188720"/>
          </a:xfrm>
          <a:prstGeom prst="rect">
            <a:avLst/>
          </a:prstGeom>
          <a:noFill/>
          <a:ln/>
        </p:spPr>
        <p:txBody>
          <a:bodyPr wrap="square" lIns="0" tIns="0" rIns="0" bIns="0" rtlCol="0" anchor="ctr"/>
          <a:lstStyle/>
          <a:p>
            <a:pPr algn="ctr" indent="0" marL="0">
              <a:buNone/>
            </a:pPr>
            <a:r>
              <a:rPr lang="en-US" sz="6400" b="1" dirty="0">
                <a:solidFill>
                  <a:srgbClr val="0071E3"/>
                </a:solidFill>
                <a:latin typeface="Cambria" pitchFamily="34" charset="0"/>
                <a:ea typeface="Cambria" pitchFamily="34" charset="-122"/>
                <a:cs typeface="Cambria" pitchFamily="34" charset="-120"/>
              </a:rPr>
              <a:t>~10×</a:t>
            </a:r>
            <a:endParaRPr lang="en-US" sz="6400" dirty="0"/>
          </a:p>
        </p:txBody>
      </p:sp>
      <p:sp>
        <p:nvSpPr>
          <p:cNvPr id="12" name="Text 9"/>
          <p:cNvSpPr/>
          <p:nvPr/>
        </p:nvSpPr>
        <p:spPr>
          <a:xfrm>
            <a:off x="8247888" y="4434840"/>
            <a:ext cx="3200400" cy="640080"/>
          </a:xfrm>
          <a:prstGeom prst="rect">
            <a:avLst/>
          </a:prstGeom>
          <a:noFill/>
          <a:ln/>
        </p:spPr>
        <p:txBody>
          <a:bodyPr wrap="square" lIns="0" tIns="0" rIns="0" bIns="0" rtlCol="0" anchor="ctr"/>
          <a:lstStyle/>
          <a:p>
            <a:pPr algn="ctr" indent="0" marL="0">
              <a:buNone/>
            </a:pPr>
            <a:r>
              <a:rPr lang="en-US" sz="1400" dirty="0">
                <a:solidFill>
                  <a:srgbClr val="86868B"/>
                </a:solidFill>
                <a:latin typeface="Arial" pitchFamily="34" charset="0"/>
                <a:ea typeface="Arial" pitchFamily="34" charset="-122"/>
                <a:cs typeface="Arial" pitchFamily="34" charset="-120"/>
              </a:rPr>
              <a:t>larger attention matrix</a:t>
            </a:r>
            <a:endParaRPr lang="en-US" sz="1400" dirty="0"/>
          </a:p>
        </p:txBody>
      </p:sp>
      <p:sp>
        <p:nvSpPr>
          <p:cNvPr id="13" name="Text 10"/>
          <p:cNvSpPr/>
          <p:nvPr/>
        </p:nvSpPr>
        <p:spPr>
          <a:xfrm>
            <a:off x="11155680" y="6355080"/>
            <a:ext cx="457200" cy="274320"/>
          </a:xfrm>
          <a:prstGeom prst="rect">
            <a:avLst/>
          </a:prstGeom>
          <a:noFill/>
          <a:ln/>
        </p:spPr>
        <p:txBody>
          <a:bodyPr wrap="square" lIns="0" tIns="0" rIns="0" bIns="0" rtlCol="0" anchor="ctr"/>
          <a:lstStyle/>
          <a:p>
            <a:pPr algn="r" indent="0" marL="0">
              <a:buNone/>
            </a:pPr>
            <a:r>
              <a:rPr lang="en-US" sz="1000" dirty="0">
                <a:solidFill>
                  <a:srgbClr val="D2D2D7"/>
                </a:solidFill>
                <a:latin typeface="Arial" pitchFamily="34" charset="0"/>
                <a:ea typeface="Arial" pitchFamily="34" charset="-122"/>
                <a:cs typeface="Arial"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BFD"/>
        </a:solidFill>
      </p:bgPr>
    </p:bg>
    <p:spTree>
      <p:nvGrpSpPr>
        <p:cNvPr id="1" name=""/>
        <p:cNvGrpSpPr/>
        <p:nvPr/>
      </p:nvGrpSpPr>
      <p:grpSpPr>
        <a:xfrm>
          <a:off x="0" y="0"/>
          <a:ext cx="0" cy="0"/>
          <a:chOff x="0" y="0"/>
          <a:chExt cx="0" cy="0"/>
        </a:xfrm>
      </p:grpSpPr>
      <p:sp>
        <p:nvSpPr>
          <p:cNvPr id="3" name="Text 0"/>
          <p:cNvSpPr/>
          <p:nvPr/>
        </p:nvSpPr>
        <p:spPr>
          <a:xfrm>
            <a:off x="9235440" y="384048"/>
            <a:ext cx="2194560" cy="274320"/>
          </a:xfrm>
          <a:prstGeom prst="rect">
            <a:avLst/>
          </a:prstGeom>
          <a:noFill/>
          <a:ln/>
        </p:spPr>
        <p:txBody>
          <a:bodyPr wrap="square" lIns="0" tIns="0" rIns="0" bIns="0" rtlCol="0" anchor="ctr"/>
          <a:lstStyle/>
          <a:p>
            <a:pPr algn="r" indent="0" marL="0">
              <a:buNone/>
            </a:pPr>
            <a:r>
              <a:rPr lang="en-US" sz="950" spc="200" kern="0" dirty="0">
                <a:solidFill>
                  <a:srgbClr val="86868B"/>
                </a:solidFill>
                <a:latin typeface="Arial" pitchFamily="34" charset="0"/>
                <a:ea typeface="Arial" pitchFamily="34" charset="-122"/>
                <a:cs typeface="Arial" pitchFamily="34" charset="-120"/>
              </a:rPr>
              <a:t>DAYO</a:t>
            </a:r>
            <a:endParaRPr lang="en-US" sz="950" dirty="0"/>
          </a:p>
        </p:txBody>
      </p:sp>
      <p:sp>
        <p:nvSpPr>
          <p:cNvPr id="4" name="Text 1"/>
          <p:cNvSpPr/>
          <p:nvPr/>
        </p:nvSpPr>
        <p:spPr>
          <a:xfrm>
            <a:off x="841248" y="640080"/>
            <a:ext cx="7315200" cy="274320"/>
          </a:xfrm>
          <a:prstGeom prst="rect">
            <a:avLst/>
          </a:prstGeom>
          <a:noFill/>
          <a:ln/>
        </p:spPr>
        <p:txBody>
          <a:bodyPr wrap="square" lIns="0" tIns="0" rIns="0" bIns="0" rtlCol="0" anchor="ctr"/>
          <a:lstStyle/>
          <a:p>
            <a:pPr indent="0" marL="0">
              <a:buNone/>
            </a:pPr>
            <a:r>
              <a:rPr lang="en-US" sz="1100" b="1" spc="300" kern="0" dirty="0">
                <a:solidFill>
                  <a:srgbClr val="0071E3"/>
                </a:solidFill>
                <a:latin typeface="Arial" pitchFamily="34" charset="0"/>
                <a:ea typeface="Arial" pitchFamily="34" charset="-122"/>
                <a:cs typeface="Arial" pitchFamily="34" charset="-120"/>
              </a:rPr>
              <a:t>EXPERIMENT 5 · MORPHOLOGY</a:t>
            </a:r>
            <a:endParaRPr lang="en-US" sz="1100" dirty="0"/>
          </a:p>
        </p:txBody>
      </p:sp>
      <p:sp>
        <p:nvSpPr>
          <p:cNvPr id="5" name="Text 2"/>
          <p:cNvSpPr/>
          <p:nvPr/>
        </p:nvSpPr>
        <p:spPr>
          <a:xfrm>
            <a:off x="841248" y="1097280"/>
            <a:ext cx="10515600" cy="731520"/>
          </a:xfrm>
          <a:prstGeom prst="rect">
            <a:avLst/>
          </a:prstGeom>
          <a:noFill/>
          <a:ln/>
        </p:spPr>
        <p:txBody>
          <a:bodyPr wrap="square" lIns="0" tIns="0" rIns="0" bIns="0" rtlCol="0" anchor="ctr"/>
          <a:lstStyle/>
          <a:p>
            <a:pPr indent="0" marL="0">
              <a:buNone/>
            </a:pPr>
            <a:r>
              <a:rPr lang="en-US" sz="3000" b="1" dirty="0">
                <a:solidFill>
                  <a:srgbClr val="1D1D1F"/>
                </a:solidFill>
                <a:latin typeface="Cambria" pitchFamily="34" charset="0"/>
                <a:ea typeface="Cambria" pitchFamily="34" charset="-122"/>
                <a:cs typeface="Cambria" pitchFamily="34" charset="-120"/>
              </a:rPr>
              <a:t>BPE aligns with morphology — for free.</a:t>
            </a:r>
            <a:endParaRPr lang="en-US" sz="3000" dirty="0"/>
          </a:p>
        </p:txBody>
      </p:sp>
      <p:pic>
        <p:nvPicPr>
          <p:cNvPr id="6" name="Image 0" descr="fig/morph.png">    </p:cNvPr>
          <p:cNvPicPr>
            <a:picLocks noChangeAspect="1"/>
          </p:cNvPicPr>
          <p:nvPr/>
        </p:nvPicPr>
        <p:blipFill>
          <a:blip r:embed="rId1"/>
          <a:srcRect l="0" r="0" t="0" b="0"/>
          <a:stretch/>
        </p:blipFill>
        <p:spPr>
          <a:xfrm>
            <a:off x="841248" y="1965960"/>
            <a:ext cx="6766560" cy="3840480"/>
          </a:xfrm>
          <a:prstGeom prst="rect">
            <a:avLst/>
          </a:prstGeom>
        </p:spPr>
      </p:pic>
      <p:sp>
        <p:nvSpPr>
          <p:cNvPr id="7" name="Text 3"/>
          <p:cNvSpPr/>
          <p:nvPr/>
        </p:nvSpPr>
        <p:spPr>
          <a:xfrm>
            <a:off x="8138160" y="2651760"/>
            <a:ext cx="3291840" cy="2743200"/>
          </a:xfrm>
          <a:prstGeom prst="rect">
            <a:avLst/>
          </a:prstGeom>
          <a:noFill/>
          <a:ln/>
        </p:spPr>
        <p:txBody>
          <a:bodyPr wrap="square" lIns="0" tIns="0" rIns="0" bIns="0" rtlCol="0" anchor="ctr"/>
          <a:lstStyle/>
          <a:p>
            <a:pPr indent="0" marL="0">
              <a:lnSpc>
                <a:spcPct val="135000"/>
              </a:lnSpc>
              <a:buNone/>
            </a:pPr>
            <a:r>
              <a:rPr lang="en-US" sz="1600" dirty="0">
                <a:solidFill>
                  <a:srgbClr val="1D1D1F"/>
                </a:solidFill>
                <a:latin typeface="Arial" pitchFamily="34" charset="0"/>
                <a:ea typeface="Arial" pitchFamily="34" charset="-122"/>
                <a:cs typeface="Arial" pitchFamily="34" charset="-120"/>
              </a:rPr>
              <a:t>BPE’s frequency merging happens to land on morpheme boundaries.</a:t>
            </a:r>
            <a:endParaRPr lang="en-US" sz="1600" dirty="0"/>
          </a:p>
          <a:p>
            <a:pPr indent="0" marL="0">
              <a:lnSpc>
                <a:spcPct val="135000"/>
              </a:lnSpc>
              <a:buNone/>
            </a:pPr>
            <a:r>
              <a:rPr lang="en-US" sz="1000" dirty="0">
                <a:solidFill>
                  <a:srgbClr val="000000"/>
                </a:solidFill>
                <a:latin typeface="Arial" pitchFamily="34" charset="0"/>
                <a:ea typeface="Arial" pitchFamily="34" charset="-122"/>
                <a:cs typeface="Arial" pitchFamily="34" charset="-120"/>
              </a:rPr>
              <a:t> </a:t>
            </a:r>
            <a:endParaRPr lang="en-US" sz="1600" dirty="0"/>
          </a:p>
          <a:p>
            <a:pPr indent="0" marL="0">
              <a:lnSpc>
                <a:spcPct val="135000"/>
              </a:lnSpc>
              <a:buNone/>
            </a:pPr>
            <a:r>
              <a:rPr lang="en-US" sz="1600" dirty="0">
                <a:solidFill>
                  <a:srgbClr val="86868B"/>
                </a:solidFill>
                <a:latin typeface="Arial" pitchFamily="34" charset="0"/>
                <a:ea typeface="Arial" pitchFamily="34" charset="-122"/>
                <a:cs typeface="Arial" pitchFamily="34" charset="-120"/>
              </a:rPr>
              <a:t>WordPiece needs the threshold to approach it — and only by accepting a smaller, saturated vocabulary.</a:t>
            </a:r>
            <a:endParaRPr lang="en-US" sz="1600" dirty="0"/>
          </a:p>
        </p:txBody>
      </p:sp>
      <p:sp>
        <p:nvSpPr>
          <p:cNvPr id="8" name="Text 4"/>
          <p:cNvSpPr/>
          <p:nvPr/>
        </p:nvSpPr>
        <p:spPr>
          <a:xfrm>
            <a:off x="11155680" y="6355080"/>
            <a:ext cx="457200" cy="274320"/>
          </a:xfrm>
          <a:prstGeom prst="rect">
            <a:avLst/>
          </a:prstGeom>
          <a:noFill/>
          <a:ln/>
        </p:spPr>
        <p:txBody>
          <a:bodyPr wrap="square" lIns="0" tIns="0" rIns="0" bIns="0" rtlCol="0" anchor="ctr"/>
          <a:lstStyle/>
          <a:p>
            <a:pPr algn="r" indent="0" marL="0">
              <a:buNone/>
            </a:pPr>
            <a:r>
              <a:rPr lang="en-US" sz="1000" dirty="0">
                <a:solidFill>
                  <a:srgbClr val="D2D2D7"/>
                </a:solidFill>
                <a:latin typeface="Arial" pitchFamily="34" charset="0"/>
                <a:ea typeface="Arial" pitchFamily="34" charset="-122"/>
                <a:cs typeface="Arial"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BFD"/>
        </a:solidFill>
      </p:bgPr>
    </p:bg>
    <p:spTree>
      <p:nvGrpSpPr>
        <p:cNvPr id="1" name=""/>
        <p:cNvGrpSpPr/>
        <p:nvPr/>
      </p:nvGrpSpPr>
      <p:grpSpPr>
        <a:xfrm>
          <a:off x="0" y="0"/>
          <a:ext cx="0" cy="0"/>
          <a:chOff x="0" y="0"/>
          <a:chExt cx="0" cy="0"/>
        </a:xfrm>
      </p:grpSpPr>
      <p:sp>
        <p:nvSpPr>
          <p:cNvPr id="3" name="Text 0"/>
          <p:cNvSpPr/>
          <p:nvPr/>
        </p:nvSpPr>
        <p:spPr>
          <a:xfrm>
            <a:off x="9235440" y="384048"/>
            <a:ext cx="2194560" cy="274320"/>
          </a:xfrm>
          <a:prstGeom prst="rect">
            <a:avLst/>
          </a:prstGeom>
          <a:noFill/>
          <a:ln/>
        </p:spPr>
        <p:txBody>
          <a:bodyPr wrap="square" lIns="0" tIns="0" rIns="0" bIns="0" rtlCol="0" anchor="ctr"/>
          <a:lstStyle/>
          <a:p>
            <a:pPr algn="r" indent="0" marL="0">
              <a:buNone/>
            </a:pPr>
            <a:r>
              <a:rPr lang="en-US" sz="950" spc="200" kern="0" dirty="0">
                <a:solidFill>
                  <a:srgbClr val="86868B"/>
                </a:solidFill>
                <a:latin typeface="Arial" pitchFamily="34" charset="0"/>
                <a:ea typeface="Arial" pitchFamily="34" charset="-122"/>
                <a:cs typeface="Arial" pitchFamily="34" charset="-120"/>
              </a:rPr>
              <a:t>DAYO</a:t>
            </a:r>
            <a:endParaRPr lang="en-US" sz="950" dirty="0"/>
          </a:p>
        </p:txBody>
      </p:sp>
      <p:sp>
        <p:nvSpPr>
          <p:cNvPr id="4" name="Text 1"/>
          <p:cNvSpPr/>
          <p:nvPr/>
        </p:nvSpPr>
        <p:spPr>
          <a:xfrm>
            <a:off x="841248" y="640080"/>
            <a:ext cx="7315200" cy="274320"/>
          </a:xfrm>
          <a:prstGeom prst="rect">
            <a:avLst/>
          </a:prstGeom>
          <a:noFill/>
          <a:ln/>
        </p:spPr>
        <p:txBody>
          <a:bodyPr wrap="square" lIns="0" tIns="0" rIns="0" bIns="0" rtlCol="0" anchor="ctr"/>
          <a:lstStyle/>
          <a:p>
            <a:pPr indent="0" marL="0">
              <a:buNone/>
            </a:pPr>
            <a:r>
              <a:rPr lang="en-US" sz="1100" b="1" spc="300" kern="0" dirty="0">
                <a:solidFill>
                  <a:srgbClr val="0071E3"/>
                </a:solidFill>
                <a:latin typeface="Arial" pitchFamily="34" charset="0"/>
                <a:ea typeface="Arial" pitchFamily="34" charset="-122"/>
                <a:cs typeface="Arial" pitchFamily="34" charset="-120"/>
              </a:rPr>
              <a:t>SCIENTIFIC HONESTY</a:t>
            </a:r>
            <a:endParaRPr lang="en-US" sz="1100" dirty="0"/>
          </a:p>
        </p:txBody>
      </p:sp>
      <p:sp>
        <p:nvSpPr>
          <p:cNvPr id="5" name="Text 2"/>
          <p:cNvSpPr/>
          <p:nvPr/>
        </p:nvSpPr>
        <p:spPr>
          <a:xfrm>
            <a:off x="841248" y="1188720"/>
            <a:ext cx="10058400" cy="731520"/>
          </a:xfrm>
          <a:prstGeom prst="rect">
            <a:avLst/>
          </a:prstGeom>
          <a:noFill/>
          <a:ln/>
        </p:spPr>
        <p:txBody>
          <a:bodyPr wrap="square" lIns="0" tIns="0" rIns="0" bIns="0" rtlCol="0" anchor="ctr"/>
          <a:lstStyle/>
          <a:p>
            <a:pPr indent="0" marL="0">
              <a:buNone/>
            </a:pPr>
            <a:r>
              <a:rPr lang="en-US" sz="3400" b="1" dirty="0">
                <a:solidFill>
                  <a:srgbClr val="1D1D1F"/>
                </a:solidFill>
                <a:latin typeface="Cambria" pitchFamily="34" charset="0"/>
                <a:ea typeface="Cambria" pitchFamily="34" charset="-122"/>
                <a:cs typeface="Cambria" pitchFamily="34" charset="-120"/>
              </a:rPr>
              <a:t>We found our own bugs.</a:t>
            </a:r>
            <a:endParaRPr lang="en-US" sz="3400" dirty="0"/>
          </a:p>
        </p:txBody>
      </p:sp>
      <p:sp>
        <p:nvSpPr>
          <p:cNvPr id="6" name="Text 3"/>
          <p:cNvSpPr/>
          <p:nvPr/>
        </p:nvSpPr>
        <p:spPr>
          <a:xfrm>
            <a:off x="841248" y="2468880"/>
            <a:ext cx="9601200" cy="457200"/>
          </a:xfrm>
          <a:prstGeom prst="rect">
            <a:avLst/>
          </a:prstGeom>
          <a:noFill/>
          <a:ln/>
        </p:spPr>
        <p:txBody>
          <a:bodyPr wrap="square" lIns="0" tIns="0" rIns="0" bIns="0" rtlCol="0" anchor="ctr"/>
          <a:lstStyle/>
          <a:p>
            <a:pPr indent="0" marL="0">
              <a:buNone/>
            </a:pPr>
            <a:r>
              <a:rPr lang="en-US" sz="1900" b="1" dirty="0">
                <a:solidFill>
                  <a:srgbClr val="0071E3"/>
                </a:solidFill>
                <a:latin typeface="Arial" pitchFamily="34" charset="0"/>
                <a:ea typeface="Arial" pitchFamily="34" charset="-122"/>
                <a:cs typeface="Arial" pitchFamily="34" charset="-120"/>
              </a:rPr>
              <a:t>The stale-heap bug</a:t>
            </a:r>
            <a:endParaRPr lang="en-US" sz="1900" dirty="0"/>
          </a:p>
        </p:txBody>
      </p:sp>
      <p:sp>
        <p:nvSpPr>
          <p:cNvPr id="7" name="Text 4"/>
          <p:cNvSpPr/>
          <p:nvPr/>
        </p:nvSpPr>
        <p:spPr>
          <a:xfrm>
            <a:off x="841248" y="2926080"/>
            <a:ext cx="9875520" cy="777240"/>
          </a:xfrm>
          <a:prstGeom prst="rect">
            <a:avLst/>
          </a:prstGeom>
          <a:noFill/>
          <a:ln/>
        </p:spPr>
        <p:txBody>
          <a:bodyPr wrap="square" lIns="0" tIns="0" rIns="0" bIns="0" rtlCol="0" anchor="ctr"/>
          <a:lstStyle/>
          <a:p>
            <a:pPr indent="0" marL="0">
              <a:lnSpc>
                <a:spcPct val="130000"/>
              </a:lnSpc>
              <a:buNone/>
            </a:pPr>
            <a:r>
              <a:rPr lang="en-US" sz="1500" dirty="0">
                <a:solidFill>
                  <a:srgbClr val="86868B"/>
                </a:solidFill>
                <a:latin typeface="Arial" pitchFamily="34" charset="0"/>
                <a:ea typeface="Arial" pitchFamily="34" charset="-122"/>
                <a:cs typeface="Arial" pitchFamily="34" charset="-120"/>
              </a:rPr>
              <a:t>Fast WordPiece discarded valid pairs from its queue instead of re-checking them. We had mistaken it for a finding. Fixed.</a:t>
            </a:r>
            <a:endParaRPr lang="en-US" sz="1500" dirty="0"/>
          </a:p>
        </p:txBody>
      </p:sp>
      <p:sp>
        <p:nvSpPr>
          <p:cNvPr id="8" name="Text 5"/>
          <p:cNvSpPr/>
          <p:nvPr/>
        </p:nvSpPr>
        <p:spPr>
          <a:xfrm>
            <a:off x="841248" y="3840480"/>
            <a:ext cx="9601200" cy="457200"/>
          </a:xfrm>
          <a:prstGeom prst="rect">
            <a:avLst/>
          </a:prstGeom>
          <a:noFill/>
          <a:ln/>
        </p:spPr>
        <p:txBody>
          <a:bodyPr wrap="square" lIns="0" tIns="0" rIns="0" bIns="0" rtlCol="0" anchor="ctr"/>
          <a:lstStyle/>
          <a:p>
            <a:pPr indent="0" marL="0">
              <a:buNone/>
            </a:pPr>
            <a:r>
              <a:rPr lang="en-US" sz="1900" b="1" dirty="0">
                <a:solidFill>
                  <a:srgbClr val="0071E3"/>
                </a:solidFill>
                <a:latin typeface="Arial" pitchFamily="34" charset="0"/>
                <a:ea typeface="Arial" pitchFamily="34" charset="-122"/>
                <a:cs typeface="Arial" pitchFamily="34" charset="-120"/>
              </a:rPr>
              <a:t>The threshold saturation</a:t>
            </a:r>
            <a:endParaRPr lang="en-US" sz="1900" dirty="0"/>
          </a:p>
        </p:txBody>
      </p:sp>
      <p:sp>
        <p:nvSpPr>
          <p:cNvPr id="9" name="Text 6"/>
          <p:cNvSpPr/>
          <p:nvPr/>
        </p:nvSpPr>
        <p:spPr>
          <a:xfrm>
            <a:off x="841248" y="4297680"/>
            <a:ext cx="9875520" cy="777240"/>
          </a:xfrm>
          <a:prstGeom prst="rect">
            <a:avLst/>
          </a:prstGeom>
          <a:noFill/>
          <a:ln/>
        </p:spPr>
        <p:txBody>
          <a:bodyPr wrap="square" lIns="0" tIns="0" rIns="0" bIns="0" rtlCol="0" anchor="ctr"/>
          <a:lstStyle/>
          <a:p>
            <a:pPr indent="0" marL="0">
              <a:lnSpc>
                <a:spcPct val="130000"/>
              </a:lnSpc>
              <a:buNone/>
            </a:pPr>
            <a:r>
              <a:rPr lang="en-US" sz="1500" dirty="0">
                <a:solidFill>
                  <a:srgbClr val="86868B"/>
                </a:solidFill>
                <a:latin typeface="Arial" pitchFamily="34" charset="0"/>
                <a:ea typeface="Arial" pitchFamily="34" charset="-122"/>
                <a:cs typeface="Arial" pitchFamily="34" charset="-120"/>
              </a:rPr>
              <a:t>A fixed frequency threshold starves the vocabulary. Documented as a real trade-off, not hidden.</a:t>
            </a:r>
            <a:endParaRPr lang="en-US" sz="1500" dirty="0"/>
          </a:p>
        </p:txBody>
      </p:sp>
      <p:sp>
        <p:nvSpPr>
          <p:cNvPr id="10" name="Text 7"/>
          <p:cNvSpPr/>
          <p:nvPr/>
        </p:nvSpPr>
        <p:spPr>
          <a:xfrm>
            <a:off x="841248" y="5440680"/>
            <a:ext cx="10058400" cy="365760"/>
          </a:xfrm>
          <a:prstGeom prst="rect">
            <a:avLst/>
          </a:prstGeom>
          <a:noFill/>
          <a:ln/>
        </p:spPr>
        <p:txBody>
          <a:bodyPr wrap="square" lIns="0" tIns="0" rIns="0" bIns="0" rtlCol="0" anchor="ctr"/>
          <a:lstStyle/>
          <a:p>
            <a:pPr indent="0" marL="0">
              <a:buNone/>
            </a:pPr>
            <a:r>
              <a:rPr lang="en-US" sz="1300" i="1" dirty="0">
                <a:solidFill>
                  <a:srgbClr val="86868B"/>
                </a:solidFill>
                <a:latin typeface="Arial" pitchFamily="34" charset="0"/>
                <a:ea typeface="Arial" pitchFamily="34" charset="-122"/>
                <a:cs typeface="Arial" pitchFamily="34" charset="-120"/>
              </a:rPr>
              <a:t>Diagnosed with Claude, cross-checked against HuggingFace documentation.</a:t>
            </a:r>
            <a:endParaRPr lang="en-US" sz="1300" dirty="0"/>
          </a:p>
        </p:txBody>
      </p:sp>
      <p:sp>
        <p:nvSpPr>
          <p:cNvPr id="11" name="Text 8"/>
          <p:cNvSpPr/>
          <p:nvPr/>
        </p:nvSpPr>
        <p:spPr>
          <a:xfrm>
            <a:off x="11155680" y="6355080"/>
            <a:ext cx="457200" cy="274320"/>
          </a:xfrm>
          <a:prstGeom prst="rect">
            <a:avLst/>
          </a:prstGeom>
          <a:noFill/>
          <a:ln/>
        </p:spPr>
        <p:txBody>
          <a:bodyPr wrap="square" lIns="0" tIns="0" rIns="0" bIns="0" rtlCol="0" anchor="ctr"/>
          <a:lstStyle/>
          <a:p>
            <a:pPr algn="r" indent="0" marL="0">
              <a:buNone/>
            </a:pPr>
            <a:r>
              <a:rPr lang="en-US" sz="1000" dirty="0">
                <a:solidFill>
                  <a:srgbClr val="D2D2D7"/>
                </a:solidFill>
                <a:latin typeface="Arial" pitchFamily="34" charset="0"/>
                <a:ea typeface="Arial" pitchFamily="34" charset="-122"/>
                <a:cs typeface="Arial"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BFD"/>
        </a:solidFill>
      </p:bgPr>
    </p:bg>
    <p:spTree>
      <p:nvGrpSpPr>
        <p:cNvPr id="1" name=""/>
        <p:cNvGrpSpPr/>
        <p:nvPr/>
      </p:nvGrpSpPr>
      <p:grpSpPr>
        <a:xfrm>
          <a:off x="0" y="0"/>
          <a:ext cx="0" cy="0"/>
          <a:chOff x="0" y="0"/>
          <a:chExt cx="0" cy="0"/>
        </a:xfrm>
      </p:grpSpPr>
      <p:sp>
        <p:nvSpPr>
          <p:cNvPr id="3" name="Text 0"/>
          <p:cNvSpPr/>
          <p:nvPr/>
        </p:nvSpPr>
        <p:spPr>
          <a:xfrm>
            <a:off x="9235440" y="384048"/>
            <a:ext cx="2194560" cy="274320"/>
          </a:xfrm>
          <a:prstGeom prst="rect">
            <a:avLst/>
          </a:prstGeom>
          <a:noFill/>
          <a:ln/>
        </p:spPr>
        <p:txBody>
          <a:bodyPr wrap="square" lIns="0" tIns="0" rIns="0" bIns="0" rtlCol="0" anchor="ctr"/>
          <a:lstStyle/>
          <a:p>
            <a:pPr algn="r" indent="0" marL="0">
              <a:buNone/>
            </a:pPr>
            <a:r>
              <a:rPr lang="en-US" sz="950" spc="200" kern="0" dirty="0">
                <a:solidFill>
                  <a:srgbClr val="86868B"/>
                </a:solidFill>
                <a:latin typeface="Arial" pitchFamily="34" charset="0"/>
                <a:ea typeface="Arial" pitchFamily="34" charset="-122"/>
                <a:cs typeface="Arial" pitchFamily="34" charset="-120"/>
              </a:rPr>
              <a:t>LAMA</a:t>
            </a:r>
            <a:endParaRPr lang="en-US" sz="950" dirty="0"/>
          </a:p>
        </p:txBody>
      </p:sp>
      <p:sp>
        <p:nvSpPr>
          <p:cNvPr id="4" name="Text 1"/>
          <p:cNvSpPr/>
          <p:nvPr/>
        </p:nvSpPr>
        <p:spPr>
          <a:xfrm>
            <a:off x="841248" y="640080"/>
            <a:ext cx="7315200" cy="274320"/>
          </a:xfrm>
          <a:prstGeom prst="rect">
            <a:avLst/>
          </a:prstGeom>
          <a:noFill/>
          <a:ln/>
        </p:spPr>
        <p:txBody>
          <a:bodyPr wrap="square" lIns="0" tIns="0" rIns="0" bIns="0" rtlCol="0" anchor="ctr"/>
          <a:lstStyle/>
          <a:p>
            <a:pPr indent="0" marL="0">
              <a:buNone/>
            </a:pPr>
            <a:r>
              <a:rPr lang="en-US" sz="1100" b="1" spc="300" kern="0" dirty="0">
                <a:solidFill>
                  <a:srgbClr val="0071E3"/>
                </a:solidFill>
                <a:latin typeface="Arial" pitchFamily="34" charset="0"/>
                <a:ea typeface="Arial" pitchFamily="34" charset="-122"/>
                <a:cs typeface="Arial" pitchFamily="34" charset="-120"/>
              </a:rPr>
              <a:t>SYNTHESIS</a:t>
            </a:r>
            <a:endParaRPr lang="en-US" sz="1100" dirty="0"/>
          </a:p>
        </p:txBody>
      </p:sp>
      <p:sp>
        <p:nvSpPr>
          <p:cNvPr id="5" name="Text 2"/>
          <p:cNvSpPr/>
          <p:nvPr/>
        </p:nvSpPr>
        <p:spPr>
          <a:xfrm>
            <a:off x="841248" y="1097280"/>
            <a:ext cx="10058400" cy="731520"/>
          </a:xfrm>
          <a:prstGeom prst="rect">
            <a:avLst/>
          </a:prstGeom>
          <a:noFill/>
          <a:ln/>
        </p:spPr>
        <p:txBody>
          <a:bodyPr wrap="square" lIns="0" tIns="0" rIns="0" bIns="0" rtlCol="0" anchor="ctr"/>
          <a:lstStyle/>
          <a:p>
            <a:pPr indent="0" marL="0">
              <a:buNone/>
            </a:pPr>
            <a:r>
              <a:rPr lang="en-US" sz="3400" b="1" dirty="0">
                <a:solidFill>
                  <a:srgbClr val="1D1D1F"/>
                </a:solidFill>
                <a:latin typeface="Cambria" pitchFamily="34" charset="0"/>
                <a:ea typeface="Cambria" pitchFamily="34" charset="-122"/>
                <a:cs typeface="Cambria" pitchFamily="34" charset="-120"/>
              </a:rPr>
              <a:t>What we learned</a:t>
            </a:r>
            <a:endParaRPr lang="en-US" sz="3400" dirty="0"/>
          </a:p>
        </p:txBody>
      </p:sp>
      <p:sp>
        <p:nvSpPr>
          <p:cNvPr id="6" name="Text 3"/>
          <p:cNvSpPr/>
          <p:nvPr/>
        </p:nvSpPr>
        <p:spPr>
          <a:xfrm>
            <a:off x="841248" y="2331720"/>
            <a:ext cx="640080" cy="822960"/>
          </a:xfrm>
          <a:prstGeom prst="rect">
            <a:avLst/>
          </a:prstGeom>
          <a:noFill/>
          <a:ln/>
        </p:spPr>
        <p:txBody>
          <a:bodyPr wrap="square" lIns="0" tIns="0" rIns="0" bIns="0" rtlCol="0" anchor="ctr"/>
          <a:lstStyle/>
          <a:p>
            <a:pPr indent="0" marL="0">
              <a:buNone/>
            </a:pPr>
            <a:r>
              <a:rPr lang="en-US" sz="3000" b="1" dirty="0">
                <a:solidFill>
                  <a:srgbClr val="0071E3"/>
                </a:solidFill>
                <a:latin typeface="Cambria" pitchFamily="34" charset="0"/>
                <a:ea typeface="Cambria" pitchFamily="34" charset="-122"/>
                <a:cs typeface="Cambria" pitchFamily="34" charset="-120"/>
              </a:rPr>
              <a:t>1</a:t>
            </a:r>
            <a:endParaRPr lang="en-US" sz="3000" dirty="0"/>
          </a:p>
        </p:txBody>
      </p:sp>
      <p:sp>
        <p:nvSpPr>
          <p:cNvPr id="7" name="Text 4"/>
          <p:cNvSpPr/>
          <p:nvPr/>
        </p:nvSpPr>
        <p:spPr>
          <a:xfrm>
            <a:off x="1618488" y="2350008"/>
            <a:ext cx="9144000" cy="457200"/>
          </a:xfrm>
          <a:prstGeom prst="rect">
            <a:avLst/>
          </a:prstGeom>
          <a:noFill/>
          <a:ln/>
        </p:spPr>
        <p:txBody>
          <a:bodyPr wrap="square" lIns="0" tIns="0" rIns="0" bIns="0" rtlCol="0" anchor="ctr"/>
          <a:lstStyle/>
          <a:p>
            <a:pPr indent="0" marL="0">
              <a:buNone/>
            </a:pPr>
            <a:r>
              <a:rPr lang="en-US" sz="1800" b="1" dirty="0">
                <a:solidFill>
                  <a:srgbClr val="1D1D1F"/>
                </a:solidFill>
                <a:latin typeface="Arial" pitchFamily="34" charset="0"/>
                <a:ea typeface="Arial" pitchFamily="34" charset="-122"/>
                <a:cs typeface="Arial" pitchFamily="34" charset="-120"/>
              </a:rPr>
              <a:t>Speed is structural</a:t>
            </a:r>
            <a:endParaRPr lang="en-US" sz="1800" dirty="0"/>
          </a:p>
        </p:txBody>
      </p:sp>
      <p:sp>
        <p:nvSpPr>
          <p:cNvPr id="8" name="Text 5"/>
          <p:cNvSpPr/>
          <p:nvPr/>
        </p:nvSpPr>
        <p:spPr>
          <a:xfrm>
            <a:off x="1618488" y="2807208"/>
            <a:ext cx="9692640" cy="640080"/>
          </a:xfrm>
          <a:prstGeom prst="rect">
            <a:avLst/>
          </a:prstGeom>
          <a:noFill/>
          <a:ln/>
        </p:spPr>
        <p:txBody>
          <a:bodyPr wrap="square" lIns="0" tIns="0" rIns="0" bIns="0" rtlCol="0" anchor="ctr"/>
          <a:lstStyle/>
          <a:p>
            <a:pPr indent="0" marL="0">
              <a:lnSpc>
                <a:spcPct val="125000"/>
              </a:lnSpc>
              <a:buNone/>
            </a:pPr>
            <a:r>
              <a:rPr lang="en-US" sz="1400" dirty="0">
                <a:solidFill>
                  <a:srgbClr val="86868B"/>
                </a:solidFill>
                <a:latin typeface="Arial" pitchFamily="34" charset="0"/>
                <a:ea typeface="Arial" pitchFamily="34" charset="-122"/>
                <a:cs typeface="Arial" pitchFamily="34" charset="-120"/>
              </a:rPr>
              <a:t>Fast implementations turn training time that grows with the data into time that stays nearly constant.</a:t>
            </a:r>
            <a:endParaRPr lang="en-US" sz="1400" dirty="0"/>
          </a:p>
        </p:txBody>
      </p:sp>
      <p:sp>
        <p:nvSpPr>
          <p:cNvPr id="9" name="Text 6"/>
          <p:cNvSpPr/>
          <p:nvPr/>
        </p:nvSpPr>
        <p:spPr>
          <a:xfrm>
            <a:off x="841248" y="3474720"/>
            <a:ext cx="640080" cy="822960"/>
          </a:xfrm>
          <a:prstGeom prst="rect">
            <a:avLst/>
          </a:prstGeom>
          <a:noFill/>
          <a:ln/>
        </p:spPr>
        <p:txBody>
          <a:bodyPr wrap="square" lIns="0" tIns="0" rIns="0" bIns="0" rtlCol="0" anchor="ctr"/>
          <a:lstStyle/>
          <a:p>
            <a:pPr indent="0" marL="0">
              <a:buNone/>
            </a:pPr>
            <a:r>
              <a:rPr lang="en-US" sz="3000" b="1" dirty="0">
                <a:solidFill>
                  <a:srgbClr val="0071E3"/>
                </a:solidFill>
                <a:latin typeface="Cambria" pitchFamily="34" charset="0"/>
                <a:ea typeface="Cambria" pitchFamily="34" charset="-122"/>
                <a:cs typeface="Cambria" pitchFamily="34" charset="-120"/>
              </a:rPr>
              <a:t>2</a:t>
            </a:r>
            <a:endParaRPr lang="en-US" sz="3000" dirty="0"/>
          </a:p>
        </p:txBody>
      </p:sp>
      <p:sp>
        <p:nvSpPr>
          <p:cNvPr id="10" name="Text 7"/>
          <p:cNvSpPr/>
          <p:nvPr/>
        </p:nvSpPr>
        <p:spPr>
          <a:xfrm>
            <a:off x="1618488" y="3493008"/>
            <a:ext cx="9144000" cy="457200"/>
          </a:xfrm>
          <a:prstGeom prst="rect">
            <a:avLst/>
          </a:prstGeom>
          <a:noFill/>
          <a:ln/>
        </p:spPr>
        <p:txBody>
          <a:bodyPr wrap="square" lIns="0" tIns="0" rIns="0" bIns="0" rtlCol="0" anchor="ctr"/>
          <a:lstStyle/>
          <a:p>
            <a:pPr indent="0" marL="0">
              <a:buNone/>
            </a:pPr>
            <a:r>
              <a:rPr lang="en-US" sz="1800" b="1" dirty="0">
                <a:solidFill>
                  <a:srgbClr val="1D1D1F"/>
                </a:solidFill>
                <a:latin typeface="Arial" pitchFamily="34" charset="0"/>
                <a:ea typeface="Arial" pitchFamily="34" charset="-122"/>
                <a:cs typeface="Arial" pitchFamily="34" charset="-120"/>
              </a:rPr>
              <a:t>They optimise different things</a:t>
            </a:r>
            <a:endParaRPr lang="en-US" sz="1800" dirty="0"/>
          </a:p>
        </p:txBody>
      </p:sp>
      <p:sp>
        <p:nvSpPr>
          <p:cNvPr id="11" name="Text 8"/>
          <p:cNvSpPr/>
          <p:nvPr/>
        </p:nvSpPr>
        <p:spPr>
          <a:xfrm>
            <a:off x="1618488" y="3950208"/>
            <a:ext cx="9692640" cy="640080"/>
          </a:xfrm>
          <a:prstGeom prst="rect">
            <a:avLst/>
          </a:prstGeom>
          <a:noFill/>
          <a:ln/>
        </p:spPr>
        <p:txBody>
          <a:bodyPr wrap="square" lIns="0" tIns="0" rIns="0" bIns="0" rtlCol="0" anchor="ctr"/>
          <a:lstStyle/>
          <a:p>
            <a:pPr indent="0" marL="0">
              <a:lnSpc>
                <a:spcPct val="125000"/>
              </a:lnSpc>
              <a:buNone/>
            </a:pPr>
            <a:r>
              <a:rPr lang="en-US" sz="1400" dirty="0">
                <a:solidFill>
                  <a:srgbClr val="86868B"/>
                </a:solidFill>
                <a:latin typeface="Arial" pitchFamily="34" charset="0"/>
                <a:ea typeface="Arial" pitchFamily="34" charset="-122"/>
                <a:cs typeface="Arial" pitchFamily="34" charset="-120"/>
              </a:rPr>
              <a:t>BPE maximises frequency; WordPiece maximises informativeness. That single difference explains every result.</a:t>
            </a:r>
            <a:endParaRPr lang="en-US" sz="1400" dirty="0"/>
          </a:p>
        </p:txBody>
      </p:sp>
      <p:sp>
        <p:nvSpPr>
          <p:cNvPr id="12" name="Text 9"/>
          <p:cNvSpPr/>
          <p:nvPr/>
        </p:nvSpPr>
        <p:spPr>
          <a:xfrm>
            <a:off x="841248" y="4617720"/>
            <a:ext cx="640080" cy="822960"/>
          </a:xfrm>
          <a:prstGeom prst="rect">
            <a:avLst/>
          </a:prstGeom>
          <a:noFill/>
          <a:ln/>
        </p:spPr>
        <p:txBody>
          <a:bodyPr wrap="square" lIns="0" tIns="0" rIns="0" bIns="0" rtlCol="0" anchor="ctr"/>
          <a:lstStyle/>
          <a:p>
            <a:pPr indent="0" marL="0">
              <a:buNone/>
            </a:pPr>
            <a:r>
              <a:rPr lang="en-US" sz="3000" b="1" dirty="0">
                <a:solidFill>
                  <a:srgbClr val="0071E3"/>
                </a:solidFill>
                <a:latin typeface="Cambria" pitchFamily="34" charset="0"/>
                <a:ea typeface="Cambria" pitchFamily="34" charset="-122"/>
                <a:cs typeface="Cambria" pitchFamily="34" charset="-120"/>
              </a:rPr>
              <a:t>3</a:t>
            </a:r>
            <a:endParaRPr lang="en-US" sz="3000" dirty="0"/>
          </a:p>
        </p:txBody>
      </p:sp>
      <p:sp>
        <p:nvSpPr>
          <p:cNvPr id="13" name="Text 10"/>
          <p:cNvSpPr/>
          <p:nvPr/>
        </p:nvSpPr>
        <p:spPr>
          <a:xfrm>
            <a:off x="1618488" y="4636008"/>
            <a:ext cx="9144000" cy="457200"/>
          </a:xfrm>
          <a:prstGeom prst="rect">
            <a:avLst/>
          </a:prstGeom>
          <a:noFill/>
          <a:ln/>
        </p:spPr>
        <p:txBody>
          <a:bodyPr wrap="square" lIns="0" tIns="0" rIns="0" bIns="0" rtlCol="0" anchor="ctr"/>
          <a:lstStyle/>
          <a:p>
            <a:pPr indent="0" marL="0">
              <a:buNone/>
            </a:pPr>
            <a:r>
              <a:rPr lang="en-US" sz="1800" b="1" dirty="0">
                <a:solidFill>
                  <a:srgbClr val="1D1D1F"/>
                </a:solidFill>
                <a:latin typeface="Arial" pitchFamily="34" charset="0"/>
                <a:ea typeface="Arial" pitchFamily="34" charset="-122"/>
                <a:cs typeface="Arial" pitchFamily="34" charset="-120"/>
              </a:rPr>
              <a:t>BPE wins morphology for free</a:t>
            </a:r>
            <a:endParaRPr lang="en-US" sz="1800" dirty="0"/>
          </a:p>
        </p:txBody>
      </p:sp>
      <p:sp>
        <p:nvSpPr>
          <p:cNvPr id="14" name="Text 11"/>
          <p:cNvSpPr/>
          <p:nvPr/>
        </p:nvSpPr>
        <p:spPr>
          <a:xfrm>
            <a:off x="1618488" y="5093208"/>
            <a:ext cx="9692640" cy="640080"/>
          </a:xfrm>
          <a:prstGeom prst="rect">
            <a:avLst/>
          </a:prstGeom>
          <a:noFill/>
          <a:ln/>
        </p:spPr>
        <p:txBody>
          <a:bodyPr wrap="square" lIns="0" tIns="0" rIns="0" bIns="0" rtlCol="0" anchor="ctr"/>
          <a:lstStyle/>
          <a:p>
            <a:pPr indent="0" marL="0">
              <a:lnSpc>
                <a:spcPct val="125000"/>
              </a:lnSpc>
              <a:buNone/>
            </a:pPr>
            <a:r>
              <a:rPr lang="en-US" sz="1400" dirty="0">
                <a:solidFill>
                  <a:srgbClr val="86868B"/>
                </a:solidFill>
                <a:latin typeface="Arial" pitchFamily="34" charset="0"/>
                <a:ea typeface="Arial" pitchFamily="34" charset="-122"/>
                <a:cs typeface="Arial" pitchFamily="34" charset="-120"/>
              </a:rPr>
              <a:t>On German, frequency merging lands on morpheme boundaries; WordPiece must be tuned to approach it.</a:t>
            </a:r>
            <a:endParaRPr lang="en-US" sz="1400" dirty="0"/>
          </a:p>
        </p:txBody>
      </p:sp>
      <p:sp>
        <p:nvSpPr>
          <p:cNvPr id="15" name="Text 12"/>
          <p:cNvSpPr/>
          <p:nvPr/>
        </p:nvSpPr>
        <p:spPr>
          <a:xfrm>
            <a:off x="11155680" y="6355080"/>
            <a:ext cx="457200" cy="274320"/>
          </a:xfrm>
          <a:prstGeom prst="rect">
            <a:avLst/>
          </a:prstGeom>
          <a:noFill/>
          <a:ln/>
        </p:spPr>
        <p:txBody>
          <a:bodyPr wrap="square" lIns="0" tIns="0" rIns="0" bIns="0" rtlCol="0" anchor="ctr"/>
          <a:lstStyle/>
          <a:p>
            <a:pPr algn="r" indent="0" marL="0">
              <a:buNone/>
            </a:pPr>
            <a:r>
              <a:rPr lang="en-US" sz="1000" dirty="0">
                <a:solidFill>
                  <a:srgbClr val="D2D2D7"/>
                </a:solidFill>
                <a:latin typeface="Arial" pitchFamily="34" charset="0"/>
                <a:ea typeface="Arial" pitchFamily="34" charset="-122"/>
                <a:cs typeface="Arial"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BFD"/>
        </a:solidFill>
      </p:bgPr>
    </p:bg>
    <p:spTree>
      <p:nvGrpSpPr>
        <p:cNvPr id="1" name=""/>
        <p:cNvGrpSpPr/>
        <p:nvPr/>
      </p:nvGrpSpPr>
      <p:grpSpPr>
        <a:xfrm>
          <a:off x="0" y="0"/>
          <a:ext cx="0" cy="0"/>
          <a:chOff x="0" y="0"/>
          <a:chExt cx="0" cy="0"/>
        </a:xfrm>
      </p:grpSpPr>
      <p:sp>
        <p:nvSpPr>
          <p:cNvPr id="3" name="Text 0"/>
          <p:cNvSpPr/>
          <p:nvPr/>
        </p:nvSpPr>
        <p:spPr>
          <a:xfrm>
            <a:off x="9235440" y="384048"/>
            <a:ext cx="2194560" cy="274320"/>
          </a:xfrm>
          <a:prstGeom prst="rect">
            <a:avLst/>
          </a:prstGeom>
          <a:noFill/>
          <a:ln/>
        </p:spPr>
        <p:txBody>
          <a:bodyPr wrap="square" lIns="0" tIns="0" rIns="0" bIns="0" rtlCol="0" anchor="ctr"/>
          <a:lstStyle/>
          <a:p>
            <a:pPr algn="r" indent="0" marL="0">
              <a:buNone/>
            </a:pPr>
            <a:r>
              <a:rPr lang="en-US" sz="950" spc="200" kern="0" dirty="0">
                <a:solidFill>
                  <a:srgbClr val="86868B"/>
                </a:solidFill>
                <a:latin typeface="Arial" pitchFamily="34" charset="0"/>
                <a:ea typeface="Arial" pitchFamily="34" charset="-122"/>
                <a:cs typeface="Arial" pitchFamily="34" charset="-120"/>
              </a:rPr>
              <a:t>LAMA</a:t>
            </a:r>
            <a:endParaRPr lang="en-US" sz="950" dirty="0"/>
          </a:p>
        </p:txBody>
      </p:sp>
      <p:sp>
        <p:nvSpPr>
          <p:cNvPr id="4" name="Text 1"/>
          <p:cNvSpPr/>
          <p:nvPr/>
        </p:nvSpPr>
        <p:spPr>
          <a:xfrm>
            <a:off x="841248" y="640080"/>
            <a:ext cx="7315200" cy="274320"/>
          </a:xfrm>
          <a:prstGeom prst="rect">
            <a:avLst/>
          </a:prstGeom>
          <a:noFill/>
          <a:ln/>
        </p:spPr>
        <p:txBody>
          <a:bodyPr wrap="square" lIns="0" tIns="0" rIns="0" bIns="0" rtlCol="0" anchor="ctr"/>
          <a:lstStyle/>
          <a:p>
            <a:pPr indent="0" marL="0">
              <a:buNone/>
            </a:pPr>
            <a:r>
              <a:rPr lang="en-US" sz="1100" b="1" spc="300" kern="0" dirty="0">
                <a:solidFill>
                  <a:srgbClr val="0071E3"/>
                </a:solidFill>
                <a:latin typeface="Arial" pitchFamily="34" charset="0"/>
                <a:ea typeface="Arial" pitchFamily="34" charset="-122"/>
                <a:cs typeface="Arial" pitchFamily="34" charset="-120"/>
              </a:rPr>
              <a:t>HONEST LIMITS</a:t>
            </a:r>
            <a:endParaRPr lang="en-US" sz="1100" dirty="0"/>
          </a:p>
        </p:txBody>
      </p:sp>
      <p:sp>
        <p:nvSpPr>
          <p:cNvPr id="5" name="Text 2"/>
          <p:cNvSpPr/>
          <p:nvPr/>
        </p:nvSpPr>
        <p:spPr>
          <a:xfrm>
            <a:off x="841248" y="1188720"/>
            <a:ext cx="10058400" cy="731520"/>
          </a:xfrm>
          <a:prstGeom prst="rect">
            <a:avLst/>
          </a:prstGeom>
          <a:noFill/>
          <a:ln/>
        </p:spPr>
        <p:txBody>
          <a:bodyPr wrap="square" lIns="0" tIns="0" rIns="0" bIns="0" rtlCol="0" anchor="ctr"/>
          <a:lstStyle/>
          <a:p>
            <a:pPr indent="0" marL="0">
              <a:buNone/>
            </a:pPr>
            <a:r>
              <a:rPr lang="en-US" sz="3400" b="1" dirty="0">
                <a:solidFill>
                  <a:srgbClr val="1D1D1F"/>
                </a:solidFill>
                <a:latin typeface="Cambria" pitchFamily="34" charset="0"/>
                <a:ea typeface="Cambria" pitchFamily="34" charset="-122"/>
                <a:cs typeface="Cambria" pitchFamily="34" charset="-120"/>
              </a:rPr>
              <a:t>Where it breaks</a:t>
            </a:r>
            <a:endParaRPr lang="en-US" sz="3400" dirty="0"/>
          </a:p>
        </p:txBody>
      </p:sp>
      <p:sp>
        <p:nvSpPr>
          <p:cNvPr id="6" name="Text 3"/>
          <p:cNvSpPr/>
          <p:nvPr/>
        </p:nvSpPr>
        <p:spPr>
          <a:xfrm>
            <a:off x="841248" y="2468880"/>
            <a:ext cx="9875520" cy="2011680"/>
          </a:xfrm>
          <a:prstGeom prst="rect">
            <a:avLst/>
          </a:prstGeom>
          <a:noFill/>
          <a:ln/>
        </p:spPr>
        <p:txBody>
          <a:bodyPr wrap="square" lIns="0" tIns="0" rIns="0" bIns="0" rtlCol="0" anchor="ctr"/>
          <a:lstStyle/>
          <a:p>
            <a:pPr marL="228600" indent="-228600">
              <a:lnSpc>
                <a:spcPct val="120000"/>
              </a:lnSpc>
              <a:spcAft>
                <a:spcPts val="1400"/>
              </a:spcAft>
              <a:buSzPct val="100000"/>
              <a:buChar char="•"/>
            </a:pPr>
            <a:r>
              <a:rPr lang="en-US" sz="1800" dirty="0">
                <a:solidFill>
                  <a:srgbClr val="1D1D1F"/>
                </a:solidFill>
                <a:latin typeface="Arial" pitchFamily="34" charset="0"/>
                <a:ea typeface="Arial" pitchFamily="34" charset="-122"/>
                <a:cs typeface="Arial" pitchFamily="34" charset="-120"/>
              </a:rPr>
              <a:t>Small, hand-built gold standard — not an automatic analyser.</a:t>
            </a:r>
            <a:endParaRPr lang="en-US" sz="1800" dirty="0"/>
          </a:p>
          <a:p>
            <a:pPr marL="228600" indent="-228600">
              <a:lnSpc>
                <a:spcPct val="120000"/>
              </a:lnSpc>
              <a:spcAft>
                <a:spcPts val="1400"/>
              </a:spcAft>
              <a:buSzPct val="100000"/>
              <a:buChar char="•"/>
            </a:pPr>
            <a:r>
              <a:rPr lang="en-US" sz="1800" dirty="0">
                <a:solidFill>
                  <a:srgbClr val="1D1D1F"/>
                </a:solidFill>
                <a:latin typeface="Arial" pitchFamily="34" charset="0"/>
                <a:ea typeface="Arial" pitchFamily="34" charset="-122"/>
                <a:cs typeface="Arial" pitchFamily="34" charset="-120"/>
              </a:rPr>
              <a:t>Modest vocabulary sizes next to BERT’s 30,000.</a:t>
            </a:r>
            <a:endParaRPr lang="en-US" sz="1800" dirty="0"/>
          </a:p>
          <a:p>
            <a:pPr marL="228600" indent="-228600">
              <a:lnSpc>
                <a:spcPct val="120000"/>
              </a:lnSpc>
              <a:spcAft>
                <a:spcPts val="1400"/>
              </a:spcAft>
              <a:buSzPct val="100000"/>
              <a:buChar char="•"/>
            </a:pPr>
            <a:r>
              <a:rPr lang="en-US" sz="1800" dirty="0">
                <a:solidFill>
                  <a:srgbClr val="1D1D1F"/>
                </a:solidFill>
                <a:latin typeface="Arial" pitchFamily="34" charset="0"/>
                <a:ea typeface="Arial" pitchFamily="34" charset="-122"/>
                <a:cs typeface="Arial" pitchFamily="34" charset="-120"/>
              </a:rPr>
              <a:t>The inflection test (trink-) defeats both algorithms.</a:t>
            </a:r>
            <a:endParaRPr lang="en-US" sz="1800" dirty="0"/>
          </a:p>
        </p:txBody>
      </p:sp>
      <p:sp>
        <p:nvSpPr>
          <p:cNvPr id="7" name="Text 4"/>
          <p:cNvSpPr/>
          <p:nvPr/>
        </p:nvSpPr>
        <p:spPr>
          <a:xfrm>
            <a:off x="841248" y="4846320"/>
            <a:ext cx="10058400" cy="731520"/>
          </a:xfrm>
          <a:prstGeom prst="rect">
            <a:avLst/>
          </a:prstGeom>
          <a:noFill/>
          <a:ln/>
        </p:spPr>
        <p:txBody>
          <a:bodyPr wrap="square" lIns="0" tIns="0" rIns="0" bIns="0" rtlCol="0" anchor="ctr"/>
          <a:lstStyle/>
          <a:p>
            <a:pPr indent="0" marL="0">
              <a:lnSpc>
                <a:spcPct val="130000"/>
              </a:lnSpc>
              <a:buNone/>
            </a:pPr>
            <a:r>
              <a:rPr lang="en-US" sz="1600" i="1" dirty="0">
                <a:solidFill>
                  <a:srgbClr val="86868B"/>
                </a:solidFill>
                <a:latin typeface="Arial" pitchFamily="34" charset="0"/>
                <a:ea typeface="Arial" pitchFamily="34" charset="-122"/>
                <a:cs typeface="Arial" pitchFamily="34" charset="-120"/>
              </a:rPr>
              <a:t>These methods are statistical, not linguistic — they learn patterns that sometimes coincide with morphemes.</a:t>
            </a:r>
            <a:endParaRPr lang="en-US" sz="1600" dirty="0"/>
          </a:p>
        </p:txBody>
      </p:sp>
      <p:sp>
        <p:nvSpPr>
          <p:cNvPr id="8" name="Text 5"/>
          <p:cNvSpPr/>
          <p:nvPr/>
        </p:nvSpPr>
        <p:spPr>
          <a:xfrm>
            <a:off x="11155680" y="6355080"/>
            <a:ext cx="457200" cy="274320"/>
          </a:xfrm>
          <a:prstGeom prst="rect">
            <a:avLst/>
          </a:prstGeom>
          <a:noFill/>
          <a:ln/>
        </p:spPr>
        <p:txBody>
          <a:bodyPr wrap="square" lIns="0" tIns="0" rIns="0" bIns="0" rtlCol="0" anchor="ctr"/>
          <a:lstStyle/>
          <a:p>
            <a:pPr algn="r" indent="0" marL="0">
              <a:buNone/>
            </a:pPr>
            <a:r>
              <a:rPr lang="en-US" sz="1000" dirty="0">
                <a:solidFill>
                  <a:srgbClr val="D2D2D7"/>
                </a:solidFill>
                <a:latin typeface="Arial" pitchFamily="34" charset="0"/>
                <a:ea typeface="Arial" pitchFamily="34" charset="-122"/>
                <a:cs typeface="Arial"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D1D1F"/>
        </a:solidFill>
      </p:bgPr>
    </p:bg>
    <p:spTree>
      <p:nvGrpSpPr>
        <p:cNvPr id="1" name=""/>
        <p:cNvGrpSpPr/>
        <p:nvPr/>
      </p:nvGrpSpPr>
      <p:grpSpPr>
        <a:xfrm>
          <a:off x="0" y="0"/>
          <a:ext cx="0" cy="0"/>
          <a:chOff x="0" y="0"/>
          <a:chExt cx="0" cy="0"/>
        </a:xfrm>
      </p:grpSpPr>
      <p:sp>
        <p:nvSpPr>
          <p:cNvPr id="3" name="Text 0"/>
          <p:cNvSpPr/>
          <p:nvPr/>
        </p:nvSpPr>
        <p:spPr>
          <a:xfrm>
            <a:off x="841248" y="2331720"/>
            <a:ext cx="10515600" cy="1645920"/>
          </a:xfrm>
          <a:prstGeom prst="rect">
            <a:avLst/>
          </a:prstGeom>
          <a:noFill/>
          <a:ln/>
        </p:spPr>
        <p:txBody>
          <a:bodyPr wrap="square" lIns="0" tIns="0" rIns="0" bIns="0" rtlCol="0" anchor="ctr"/>
          <a:lstStyle/>
          <a:p>
            <a:pPr indent="0" marL="0">
              <a:lnSpc>
                <a:spcPct val="110000"/>
              </a:lnSpc>
              <a:buNone/>
            </a:pPr>
            <a:r>
              <a:rPr lang="en-US" sz="3800" b="1" dirty="0">
                <a:solidFill>
                  <a:srgbClr val="FFFFFF"/>
                </a:solidFill>
                <a:latin typeface="Cambria" pitchFamily="34" charset="0"/>
                <a:ea typeface="Cambria" pitchFamily="34" charset="-122"/>
                <a:cs typeface="Cambria" pitchFamily="34" charset="-120"/>
              </a:rPr>
              <a:t>We built the engines,</a:t>
            </a:r>
            <a:endParaRPr lang="en-US" sz="3800" dirty="0"/>
          </a:p>
          <a:p>
            <a:pPr indent="0" marL="0">
              <a:lnSpc>
                <a:spcPct val="110000"/>
              </a:lnSpc>
              <a:buNone/>
            </a:pPr>
            <a:r>
              <a:rPr lang="en-US" sz="3800" b="1" dirty="0">
                <a:solidFill>
                  <a:srgbClr val="FFFFFF"/>
                </a:solidFill>
                <a:latin typeface="Cambria" pitchFamily="34" charset="0"/>
                <a:ea typeface="Cambria" pitchFamily="34" charset="-122"/>
                <a:cs typeface="Cambria" pitchFamily="34" charset="-120"/>
              </a:rPr>
              <a:t>and learned from the friction.</a:t>
            </a:r>
            <a:endParaRPr lang="en-US" sz="3800" dirty="0"/>
          </a:p>
        </p:txBody>
      </p:sp>
      <p:sp>
        <p:nvSpPr>
          <p:cNvPr id="4" name="Shape 1"/>
          <p:cNvSpPr/>
          <p:nvPr/>
        </p:nvSpPr>
        <p:spPr>
          <a:xfrm>
            <a:off x="841248" y="4206240"/>
            <a:ext cx="1828800" cy="0"/>
          </a:xfrm>
          <a:prstGeom prst="line">
            <a:avLst/>
          </a:prstGeom>
          <a:noFill/>
          <a:ln w="31750">
            <a:solidFill>
              <a:srgbClr val="0071E3"/>
            </a:solidFill>
            <a:prstDash val="solid"/>
          </a:ln>
        </p:spPr>
      </p:sp>
      <p:sp>
        <p:nvSpPr>
          <p:cNvPr id="5" name="Text 2"/>
          <p:cNvSpPr/>
          <p:nvPr/>
        </p:nvSpPr>
        <p:spPr>
          <a:xfrm>
            <a:off x="841248" y="4480560"/>
            <a:ext cx="10058400" cy="548640"/>
          </a:xfrm>
          <a:prstGeom prst="rect">
            <a:avLst/>
          </a:prstGeom>
          <a:noFill/>
          <a:ln/>
        </p:spPr>
        <p:txBody>
          <a:bodyPr wrap="square" lIns="0" tIns="0" rIns="0" bIns="0" rtlCol="0" anchor="ctr"/>
          <a:lstStyle/>
          <a:p>
            <a:pPr indent="0" marL="0">
              <a:buNone/>
            </a:pPr>
            <a:r>
              <a:rPr lang="en-US" sz="2000" dirty="0">
                <a:solidFill>
                  <a:srgbClr val="B8B8C0"/>
                </a:solidFill>
                <a:latin typeface="Arial" pitchFamily="34" charset="0"/>
                <a:ea typeface="Arial" pitchFamily="34" charset="-122"/>
                <a:cs typeface="Arial" pitchFamily="34" charset="-120"/>
              </a:rPr>
              <a:t>Thank you.</a:t>
            </a:r>
            <a:endParaRPr lang="en-US" sz="2000" dirty="0"/>
          </a:p>
        </p:txBody>
      </p:sp>
      <p:sp>
        <p:nvSpPr>
          <p:cNvPr id="6" name="Text 3"/>
          <p:cNvSpPr/>
          <p:nvPr/>
        </p:nvSpPr>
        <p:spPr>
          <a:xfrm>
            <a:off x="841248" y="5029200"/>
            <a:ext cx="10058400" cy="365760"/>
          </a:xfrm>
          <a:prstGeom prst="rect">
            <a:avLst/>
          </a:prstGeom>
          <a:noFill/>
          <a:ln/>
        </p:spPr>
        <p:txBody>
          <a:bodyPr wrap="square" lIns="0" tIns="0" rIns="0" bIns="0" rtlCol="0" anchor="ctr"/>
          <a:lstStyle/>
          <a:p>
            <a:pPr indent="0" marL="0">
              <a:buNone/>
            </a:pPr>
            <a:r>
              <a:rPr lang="en-US" sz="1400" dirty="0">
                <a:solidFill>
                  <a:srgbClr val="86868B"/>
                </a:solidFill>
                <a:latin typeface="Arial" pitchFamily="34" charset="0"/>
                <a:ea typeface="Arial" pitchFamily="34" charset="-122"/>
                <a:cs typeface="Arial" pitchFamily="34" charset="-120"/>
              </a:rPr>
              <a:t>Questions · live demo on request</a:t>
            </a:r>
            <a:endParaRPr lang="en-US" sz="1400" dirty="0"/>
          </a:p>
        </p:txBody>
      </p:sp>
      <p:sp>
        <p:nvSpPr>
          <p:cNvPr id="7" name="Text 4"/>
          <p:cNvSpPr/>
          <p:nvPr/>
        </p:nvSpPr>
        <p:spPr>
          <a:xfrm>
            <a:off x="11155680" y="6355080"/>
            <a:ext cx="457200" cy="274320"/>
          </a:xfrm>
          <a:prstGeom prst="rect">
            <a:avLst/>
          </a:prstGeom>
          <a:noFill/>
          <a:ln/>
        </p:spPr>
        <p:txBody>
          <a:bodyPr wrap="square" lIns="0" tIns="0" rIns="0" bIns="0" rtlCol="0" anchor="ctr"/>
          <a:lstStyle/>
          <a:p>
            <a:pPr algn="r" indent="0" marL="0">
              <a:buNone/>
            </a:pPr>
            <a:r>
              <a:rPr lang="en-US" sz="1000" dirty="0">
                <a:solidFill>
                  <a:srgbClr val="D2D2D7"/>
                </a:solidFill>
                <a:latin typeface="Arial" pitchFamily="34" charset="0"/>
                <a:ea typeface="Arial" pitchFamily="34" charset="-122"/>
                <a:cs typeface="Arial" pitchFamily="34" charset="-120"/>
              </a:rPr>
              <a:t>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BPE and WordPiece</dc:title>
  <dc:subject>PptxGenJS Presentation</dc:subject>
  <dc:creator>Ibrar, Dayo, Lama</dc:creator>
  <cp:lastModifiedBy>Ibrar, Dayo, Lama</cp:lastModifiedBy>
  <cp:revision>1</cp:revision>
  <dcterms:created xsi:type="dcterms:W3CDTF">2026-06-20T11:28:02Z</dcterms:created>
  <dcterms:modified xsi:type="dcterms:W3CDTF">2026-06-20T11:28:02Z</dcterms:modified>
</cp:coreProperties>
</file>